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ROOM, NOT IN IT. B0, the network: the 2026-08-20 Yle demo failed on Yle's network, and the diag screenshot from that network (https://noacg.studio/app?diag=1) is the owner's own, off the ledger since 2026-09-10 - "I will take care of the Yle network screenshot when I get there, you do not have to remind me" - so nothing here reminds him again. If it has not happened, the phone hotspot is the plan and you say so in the room. That fallback carries more weight since §0 call 4: with air ending at our own hosted player, a network that blocks the app takes the whole session rather than one beat. This deck opens from a file and needs no network.
B1: the morning of, check https://noacg.studio/version.json against the tip of main.
THE CLOCK, re-cut 2026-09-10 for calls 4 and 6: 10 opening, 20 road 1, 25 drawing in small groups, 25 road 2, 10 on air and the close. A beat that runs long is cut at the next beat's boundary, never stretched.
WHO DRIVES. They do, on their own laptops, for everything the day now contains. We drive one agent on the screen. Nobody drives a playout box: §0 call 4 took OBS, CasparCG and the OGraf renderer off the day, and they are a studio session later.
Source: docs/DEMO_2026-09-25.md §0 (the six calls, the re-cut timing), §1 (B0, 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O1. Every sentence on this slide has a row in docs/PROMISE_AUDIT.md, cited by its promise text: "Free and open source, AGPL-3.0, no paid edition"; "No lock-in: real HTML/CSS/JS, self-contained packages, runs from a local file with no internet" (WORKS WITH A STATED LIMITATION: the single-file targets and the SPX folder run from a file; an OGraf or LiveOS package is ES modules and needs an http server, which is why the slide says single-file); "Exports to SPX Graphics, CasparCG, OBS and vMix, H2R, LiveOS, OGraf"; "No account to create, edit and export"; "A production ... one persistent output URL" (the free account).
IF ASKED. CasparCG Connect through the CLI agent has not been run against real hardware; the exported package has (docs/STUDENT_RELEASE_ACCEPTANCE.md §2).
Source: docs/DEMO_2026-09-25.md §2 O1; docs/PROMISE_AUDIT.md.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O2. This is the deck the script asked for: one picture plus the beat headings. Say the shape out loud now so the room knows why on-air comes last: an imported SVG and an agent-made graphic both become a library record, both go into a production, and both air through one output URL (§0, call 2).
ORDER. Road 1 goes first because the whole room can do it with no terminal, no subscription and no account (§0, call 3).
Source: docs/DEMO_2026-09-25.md §0 calls 2 and 3, §2 O2.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R1.1 to R1.7. Status on 2026-09-10: WORKS on the shipped samples for the six road beats, with one exception. R1.4, behaviour on artwork nobody at NoaCG drew, is pinned by e2e/import-svg-behaviour.spec.ts, but you have not looked at your OWN quiz board since the three text-box fixes (docs/TEXT_BOX_BINDING.md). The 12th is that walk.
TWO PIECES OF DRAWING, AND THEY MUST NOT BE CONFUSED (§0 call 6, owner 2026-09-10). What the room imports and plays inside the session is ONE SIMPLE GRAPHIC, a lower third, because the session is proving the road works end to end. The real artwork is the take-home: small groups draw a lower-third quiz template and a scoreboard in Illustrator, start them here, finish them in their own time and send them in. The 25 minutes on the panel are the re-cut clock in §0, and they come out of what road 1 and on air used to have.
R1.7 HAS ONE HOLE AND IT IS NOT IN THE PRODUCT. How a finished file comes BACK - where a group sends it, in what format, and what we do with it - is not written anywhere yet. §7 row 17; one paragraph in the student one-page index (G2) closes it. If the room asks and it is still open, take an address and say we will write back rather than inventing a route at the front.
WHY THE SAMPLES ARE THE ROAD IN THE ROOM. docs/svg-samples/quiz-board.svg and scorebug.svg are the two files e2e/import-svg-behaviour.spec.ts drives all the way through behaviour, so a group that follows their layer naming gets a working quiz and a working scoreboard rather than a static picture. R1.4 is what their own file will do when it comes back.
R1.3 ON THEIR OWN FILE. The growth default is measured off the geometry and for some exporter shapes it disagrees with what the designer meant (docs/backlog/svg-growth-default-across-exporters.md). That is why the dropdown sentence is said out loud rather than waited for.
THE ROAD, IN SCREENS. Start, Design, Fields, Animation, Finish (src/components/wizard/CreationWizard.tsx, STEP_TITLES_SVG). "Create project" sits in the footer beside Design, Fields and Animation - not on Start, not on Finish - and it does NOT save: it builds with defaults for everything not yet reached and hands you to the code editor (create() calls applyDraftProject() with no arguments). The two doors the default studio shows on Finish, the production one and Export, both save. DO NOT name Create project in the room: send people to Finish and to a door by name. docs/backlog/create-project-is-a-door-that-saves-nothing.md is the open question about whether that button should be renamed or should save.
R1.5. A Yle designer's licensed face takes the upload road, in the Typefaces row on the FIELDS step - two screens before the end. The Google door is offered only where Google has the family.
NOT A BEAT. The live-vote encore needs a fixture brought by hand and has two open backlog items; only if the room is ahead of the clock.
Source: docs/DEMO_2026-09-25.md §0 call 6, §3 R1.1 to R1.7, §7 row 17; the guide is docs.html #first-graphic, landed 2026-09-09.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R2.1 is for everyone, subscription or not. R2.3: you drive one agent on the screen; the evidence is the 2026-08-22 round, 25 of 25 cells validator-clean and every one airable in your own blind read (benchmarks/agent/rounds/2026-08-22/VERDICT.md).
THE NUMBER. docs/AGENT_CLI.md, "Time to air, measured": one walk, one machine, 2026-09-09, against a dev server on the branch's own build (not 0.3.0 from npm), from an empty folder. 24.8 s is doctor + types + scaffold + validate + inspect + screenshot + pack. Setup once per machine is another 8.7 s.
R2.5: THE CLOUD LEG IS UNTIMED. The measurement stopped at the package's own fallback player. The cloud save and the studio's output URL were not walked: save refused against the dev server (the CLI's key store is per origin) and writing into the live library from an unattended session was not done. The script carries that leg as §7 row 8, the live save with a stopwatch on it. Do not say "minutes to air" as a measured claim; the slide's wording is the honest one.
UNSEEN SINCE 2026-08-23. R2.1 against noacg.studio and R2.4 the live save (§7 row 8), and B5 the install lines on a fresh machine, last executed 2026-08-22 for Claude Code and 2026-08-27 for Codex, with the Codex side of the noacg-mcp split not re-verified (§7 row 6). Both are cheap to close before the day.
Source: docs/DEMO_2026-09-25.md §4, §7 rows 6, 8; docs/AGENT_CLI.md "Time to air,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and §0 call 4 (owner, 2026-09-10) is why this slide is short. ON THE DAY AIR STOPS AT THE NOACG PLAYER IN THE CLOUD: a graphic is imported and played on our own hosted player, and seeing it work there is the proof the room gets. No OBS on a student laptop, no CasparCG box, no playout configuration of any kind. Real playout is a separate studio session later. This replaces the earlier call, which prepared four targets and chose between them on the day - if you are holding a printed deck older than 2026-09-10, the four-target slide is the one it has.
A1 WORKS. A2 WORKS except the eyes-on half of the imported quiz over the hosted log (docs/acceptance/IMPORTED_QUIZ_HOSTED_WALK.md step 2), which the 12th is.
IF SOMEBODY ASKS FOR THEIR OWN SYSTEM, the beats are still written in §5 and still true. Take one, do not take four, and do not put it on the clock. The cheapest is A5, an exported package played from a file with no network at all: WORKS, proven on the owner's own server, and the CasparCG package has carried an operator page since 2026-09-04.
WHAT A REAL CASPARCG NOW SAYS (2026-09-10, docs/acceptance/owner-queue/2026-09-10-bh-a-real-casparcg-has-now-run-the-output-url.md). Both servers on this laptop have aired a published production through their screen consumer. A4 (CG 1-20 ADD with the output URL) works on a real 2.3.2 and a real 2.5.0. A6 (Put on air through the CLI agent) aired end to end on 2.5.0 only: on 2.3.2 AMCP answered 202 and the channel stayed empty, for the origin reason below, and the same production loaded by hand aired on that server a minute later. Three things from that walk are worth having if it comes up. 2.3.x is Chromium 71, measured, not the 75 or 88 the compatibility table used to infer; its flex gaps collapse, which src/assets/flexGapShim.js now puts back, while color-mix, backdrop-filter, the inset shorthand, clamp/min/max and aspect-ratio are still dropped there (docs/PLAYOUT_COMPATIBILITY.md §2). A channel restart drops the layer, and one re-issued CG ADD brings the graphic back at its LIVE state rather than the cue's authored one. And Put on air sends the output URL OF THE PAGE IT IS PRESSED ON, so pressing it on a dev server sends a URL 2.3.x cannot parse while AMCP still answers 202 and the row still says it worked.
WHAT IS STILL UNPROVEN THERE: SDI, a Decklink card, the venue's network, and pressing Put on air from https://noacg.studio, where the browser's Local Network Access prompt needs a person. The acceptance lines in docs/STUDENT_RELEASE_ACCEPTANCE.md §1 sit unticked and the owner ticks them; none of it is on the 25th.
A7, OGRAF. The catalog packages, the agent packages and, on 2026-09-09, an imported quiz board WITH its behaviour have all been driven in SuperFly's ograf-server (docs/OGRAF.md). Which renderer Yle runs is still not recorded: docs/acceptance/owner-queue/2026-09-10-be-which-ograf-renderer-yle-runs.md.
A8 is not a beat. Said out loud if asked: today NoaCG packages and the renderer controls.
B2. Email confirmation is off, so a sign-up works at once. If the dialog still says "Check your email to confirm your account", tell the room to ignore that line (docs/backlog/sign-up-says-check-your-email-with-confirmations-off.md).
Source: docs/DEMO_2026-09-25.md §0 call 4, §5, §7 rows 3 and 10. Row 2, the output URL on a real CasparCG, closed on 2026-09-10 with the walk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G1. The end-to-end SVG page is /docs#first-graphic, landed 2026-09-09; the CLI page was end to end already. Each section is pinned by e2e/docs.spec.ts.
G2 IS TWO PAGES, NOT ONE (owner, 2026-09-10, §0 call 5), and it is still a GAP: §7 row 12, written in the week of the 22nd. The student page is the one that is handed out and then shared as a file afterwards, and the take-home brief from R1.7 lives on it - which is also where §7 row 17, how a finished file comes back, gets its one paragraph. The owner page is your running order: the same beats, who drives each, and the clock from §0. Until both exist, print this deck's notes pages, one slide per page with the notes under it.
THE ANCHORS ON THIS SLIDE ARE THE GUIDE, NOT THE DAY. #obs and #casparcg stay on the list because the guide covers them and people take it home; the session itself stops at our own player (§0 call 4), which is what slide 6 says.
Source: docs/DEMO_2026-09-25.md §0 calls 4 and 5, §6 G1 and G2, §7 rows 12 and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1 / 7</a:t>
            </a:r>
            <a:endParaRPr lang="en-US" sz="1100" dirty="0"/>
          </a:p>
        </p:txBody>
      </p:sp>
      <p:sp>
        <p:nvSpPr>
          <p:cNvPr id="3" name="Shape 1"/>
          <p:cNvSpPr/>
          <p:nvPr/>
        </p:nvSpPr>
        <p:spPr>
          <a:xfrm>
            <a:off x="640080" y="685800"/>
            <a:ext cx="731520" cy="182880"/>
          </a:xfrm>
          <a:prstGeom prst="roundRect">
            <a:avLst>
              <a:gd name="adj" fmla="val 20000"/>
            </a:avLst>
          </a:prstGeom>
          <a:solidFill>
            <a:srgbClr val="F6A623"/>
          </a:solidFill>
          <a:ln/>
        </p:spPr>
      </p:sp>
      <p:sp>
        <p:nvSpPr>
          <p:cNvPr id="4" name="Shape 2"/>
          <p:cNvSpPr/>
          <p:nvPr/>
        </p:nvSpPr>
        <p:spPr>
          <a:xfrm>
            <a:off x="640080" y="960120"/>
            <a:ext cx="482803" cy="182880"/>
          </a:xfrm>
          <a:prstGeom prst="roundRect">
            <a:avLst>
              <a:gd name="adj" fmla="val 20000"/>
            </a:avLst>
          </a:prstGeom>
          <a:solidFill>
            <a:srgbClr val="F6A623"/>
          </a:solidFill>
          <a:ln/>
        </p:spPr>
      </p:sp>
      <p:sp>
        <p:nvSpPr>
          <p:cNvPr id="5" name="Shape 3"/>
          <p:cNvSpPr/>
          <p:nvPr/>
        </p:nvSpPr>
        <p:spPr>
          <a:xfrm>
            <a:off x="640080" y="1234440"/>
            <a:ext cx="292608" cy="182880"/>
          </a:xfrm>
          <a:prstGeom prst="roundRect">
            <a:avLst>
              <a:gd name="adj" fmla="val 20000"/>
            </a:avLst>
          </a:prstGeom>
          <a:solidFill>
            <a:srgbClr val="F6A623"/>
          </a:solidFill>
          <a:ln/>
        </p:spPr>
      </p:sp>
      <p:sp>
        <p:nvSpPr>
          <p:cNvPr id="6" name="Text 4"/>
          <p:cNvSpPr txBox="1"/>
          <p:nvPr/>
        </p:nvSpPr>
        <p:spPr>
          <a:xfrm>
            <a:off x="1554480" y="658368"/>
            <a:ext cx="2743200" cy="457200"/>
          </a:xfrm>
          <a:prstGeom prst="rect">
            <a:avLst/>
          </a:prstGeom>
          <a:noFill/>
          <a:ln/>
        </p:spPr>
        <p:txBody>
          <a:bodyPr wrap="square" lIns="0" tIns="0" rIns="0" bIns="0" rtlCol="0" anchor="t"/>
          <a:lstStyle/>
          <a:p>
            <a:pPr indent="0" marL="0">
              <a:buNone/>
            </a:pPr>
            <a:r>
              <a:rPr lang="en-US" sz="2800" b="1" spc="-100" kern="0" dirty="0">
                <a:solidFill>
                  <a:srgbClr val="E8EDF2"/>
                </a:solidFill>
                <a:latin typeface="Arial" pitchFamily="34" charset="0"/>
                <a:ea typeface="Arial" pitchFamily="34" charset="-122"/>
                <a:cs typeface="Arial" pitchFamily="34" charset="-120"/>
              </a:rPr>
              <a:t>Noa</a:t>
            </a:r>
            <a:pPr indent="0" marL="0">
              <a:buNone/>
            </a:pPr>
            <a:r>
              <a:rPr lang="en-US" sz="2800" spc="-100" kern="0" dirty="0">
                <a:solidFill>
                  <a:srgbClr val="8B98A8"/>
                </a:solidFill>
                <a:latin typeface="Arial" pitchFamily="34" charset="0"/>
                <a:ea typeface="Arial" pitchFamily="34" charset="-122"/>
                <a:cs typeface="Arial" pitchFamily="34" charset="-120"/>
              </a:rPr>
              <a:t>CG</a:t>
            </a:r>
            <a:endParaRPr lang="en-US" sz="2800" dirty="0"/>
          </a:p>
        </p:txBody>
      </p:sp>
      <p:sp>
        <p:nvSpPr>
          <p:cNvPr id="7" name="Text 5"/>
          <p:cNvSpPr txBox="1"/>
          <p:nvPr/>
        </p:nvSpPr>
        <p:spPr>
          <a:xfrm>
            <a:off x="1554480" y="1097280"/>
            <a:ext cx="2743200" cy="228600"/>
          </a:xfrm>
          <a:prstGeom prst="rect">
            <a:avLst/>
          </a:prstGeom>
          <a:noFill/>
          <a:ln/>
        </p:spPr>
        <p:txBody>
          <a:bodyPr wrap="square" lIns="0" tIns="0" rIns="0" bIns="0" rtlCol="0" anchor="t"/>
          <a:lstStyle/>
          <a:p>
            <a:pPr indent="0" marL="0">
              <a:buNone/>
            </a:pPr>
            <a:r>
              <a:rPr lang="en-US" sz="1100" spc="300" kern="0" dirty="0">
                <a:solidFill>
                  <a:srgbClr val="8B98A8"/>
                </a:solidFill>
                <a:latin typeface="Consolas" pitchFamily="34" charset="0"/>
                <a:ea typeface="Consolas" pitchFamily="34" charset="-122"/>
                <a:cs typeface="Consolas" pitchFamily="34" charset="-120"/>
              </a:rPr>
              <a:t>STUDIO</a:t>
            </a:r>
            <a:endParaRPr lang="en-US" sz="1100" dirty="0"/>
          </a:p>
        </p:txBody>
      </p:sp>
      <p:sp>
        <p:nvSpPr>
          <p:cNvPr id="8" name="Text 6"/>
          <p:cNvSpPr txBox="1"/>
          <p:nvPr/>
        </p:nvSpPr>
        <p:spPr>
          <a:xfrm>
            <a:off x="640080" y="214884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25 SEPTEMBER 2026  ·  STUDENTS AND YLE  ·  HANDS ON</a:t>
            </a:r>
            <a:endParaRPr lang="en-US" sz="1200" dirty="0"/>
          </a:p>
        </p:txBody>
      </p:sp>
      <p:sp>
        <p:nvSpPr>
          <p:cNvPr id="9" name="Text 7"/>
          <p:cNvSpPr txBox="1"/>
          <p:nvPr/>
        </p:nvSpPr>
        <p:spPr>
          <a:xfrm>
            <a:off x="640080" y="2560320"/>
            <a:ext cx="10911535" cy="1737360"/>
          </a:xfrm>
          <a:prstGeom prst="rect">
            <a:avLst/>
          </a:prstGeom>
          <a:noFill/>
          <a:ln/>
        </p:spPr>
        <p:txBody>
          <a:bodyPr wrap="square" lIns="0" tIns="0" rIns="0" bIns="0" rtlCol="0" anchor="t"/>
          <a:lstStyle/>
          <a:p>
            <a:pPr indent="0" marL="0">
              <a:lnSpc>
                <a:spcPct val="98000"/>
              </a:lnSpc>
              <a:buNone/>
            </a:pPr>
            <a:r>
              <a:rPr lang="en-US" sz="5600" b="1" spc="-150" kern="0" dirty="0">
                <a:solidFill>
                  <a:srgbClr val="E8EDF2"/>
                </a:solidFill>
                <a:latin typeface="Arial" pitchFamily="34" charset="0"/>
                <a:ea typeface="Arial" pitchFamily="34" charset="-122"/>
                <a:cs typeface="Arial" pitchFamily="34" charset="-120"/>
              </a:rPr>
              <a:t>Your own graphics,</a:t>
            </a:r>
            <a:endParaRPr lang="en-US" sz="5600" dirty="0"/>
          </a:p>
          <a:p>
            <a:pPr indent="0" marL="0">
              <a:lnSpc>
                <a:spcPct val="98000"/>
              </a:lnSpc>
              <a:buNone/>
            </a:pPr>
            <a:r>
              <a:rPr lang="en-US" sz="5600" b="1" spc="-150" kern="0" dirty="0">
                <a:solidFill>
                  <a:srgbClr val="E8EDF2"/>
                </a:solidFill>
                <a:latin typeface="Arial" pitchFamily="34" charset="0"/>
                <a:ea typeface="Arial" pitchFamily="34" charset="-122"/>
                <a:cs typeface="Arial" pitchFamily="34" charset="-120"/>
              </a:rPr>
              <a:t>on your own systems.</a:t>
            </a:r>
            <a:endParaRPr lang="en-US" sz="5600" dirty="0"/>
          </a:p>
        </p:txBody>
      </p:sp>
      <p:sp>
        <p:nvSpPr>
          <p:cNvPr id="10" name="Text 8"/>
          <p:cNvSpPr txBox="1"/>
          <p:nvPr/>
        </p:nvSpPr>
        <p:spPr>
          <a:xfrm>
            <a:off x="640080" y="4434840"/>
            <a:ext cx="8412480" cy="1005840"/>
          </a:xfrm>
          <a:prstGeom prst="rect">
            <a:avLst/>
          </a:prstGeom>
          <a:noFill/>
          <a:ln/>
        </p:spPr>
        <p:txBody>
          <a:bodyPr wrap="square" lIns="0" tIns="0" rIns="0" bIns="0" rtlCol="0" anchor="t"/>
          <a:lstStyle/>
          <a:p>
            <a:pPr indent="0" marL="0">
              <a:lnSpc>
                <a:spcPct val="115000"/>
              </a:lnSpc>
              <a:buNone/>
            </a:pPr>
            <a:r>
              <a:rPr lang="en-US" sz="2200" dirty="0">
                <a:solidFill>
                  <a:srgbClr val="C6CCD6"/>
                </a:solidFill>
                <a:latin typeface="Arial" pitchFamily="34" charset="0"/>
                <a:ea typeface="Arial" pitchFamily="34" charset="-122"/>
                <a:cs typeface="Arial" pitchFamily="34" charset="-120"/>
              </a:rPr>
              <a:t>Draw one, or ask your coding agent for one. Put it on air from a browser, on our player. Then take it to whatever you already run.</a:t>
            </a:r>
            <a:endParaRPr lang="en-US" sz="2200" dirty="0"/>
          </a:p>
        </p:txBody>
      </p:sp>
      <p:sp>
        <p:nvSpPr>
          <p:cNvPr id="11" name="Text 9"/>
          <p:cNvSpPr txBox="1"/>
          <p:nvPr/>
        </p:nvSpPr>
        <p:spPr>
          <a:xfrm>
            <a:off x="640080" y="6172200"/>
            <a:ext cx="9814255" cy="274320"/>
          </a:xfrm>
          <a:prstGeom prst="rect">
            <a:avLst/>
          </a:prstGeom>
          <a:noFill/>
          <a:ln/>
        </p:spPr>
        <p:txBody>
          <a:bodyPr wrap="square" lIns="0" tIns="0" rIns="0" bIns="0" rtlCol="0" anchor="t"/>
          <a:lstStyle/>
          <a:p>
            <a:pPr indent="0" marL="0">
              <a:buNone/>
            </a:pPr>
            <a:r>
              <a:rPr lang="en-US" sz="1400" dirty="0">
                <a:solidFill>
                  <a:srgbClr val="6B7382"/>
                </a:solidFill>
                <a:latin typeface="Arial" pitchFamily="34" charset="0"/>
                <a:ea typeface="Arial" pitchFamily="34" charset="-122"/>
                <a:cs typeface="Arial" pitchFamily="34" charset="-120"/>
              </a:rPr>
              <a:t>Ninety minutes. You drive; we drive only the agent on the screen.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2 / 7</a:t>
            </a:r>
            <a:endParaRPr lang="en-US" sz="1100" dirty="0"/>
          </a:p>
        </p:txBody>
      </p:sp>
      <p:sp>
        <p:nvSpPr>
          <p:cNvPr id="3" name="Text 1"/>
          <p:cNvSpPr txBox="1"/>
          <p:nvPr/>
        </p:nvSpPr>
        <p:spPr>
          <a:xfrm>
            <a:off x="640080" y="50292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OPENING  ·  10 MIN</a:t>
            </a:r>
            <a:endParaRPr lang="en-US" sz="1200" dirty="0"/>
          </a:p>
        </p:txBody>
      </p:sp>
      <p:sp>
        <p:nvSpPr>
          <p:cNvPr id="4" name="Text 2"/>
          <p:cNvSpPr txBox="1"/>
          <p:nvPr/>
        </p:nvSpPr>
        <p:spPr>
          <a:xfrm>
            <a:off x="640080" y="822960"/>
            <a:ext cx="10911535" cy="822960"/>
          </a:xfrm>
          <a:prstGeom prst="rect">
            <a:avLst/>
          </a:prstGeom>
          <a:noFill/>
          <a:ln/>
        </p:spPr>
        <p:txBody>
          <a:bodyPr wrap="square" lIns="0" tIns="0" rIns="0" bIns="0" rtlCol="0" anchor="t"/>
          <a:lstStyle/>
          <a:p>
            <a:pPr indent="0" marL="0">
              <a:buNone/>
            </a:pPr>
            <a:r>
              <a:rPr lang="en-US" sz="4400" b="1" spc="-100" kern="0" dirty="0">
                <a:solidFill>
                  <a:srgbClr val="E8EDF2"/>
                </a:solidFill>
                <a:latin typeface="Arial" pitchFamily="34" charset="0"/>
                <a:ea typeface="Arial" pitchFamily="34" charset="-122"/>
                <a:cs typeface="Arial" pitchFamily="34" charset="-120"/>
              </a:rPr>
              <a:t>What NoaCG is</a:t>
            </a:r>
            <a:endParaRPr lang="en-US" sz="4400" dirty="0"/>
          </a:p>
        </p:txBody>
      </p:sp>
      <p:sp>
        <p:nvSpPr>
          <p:cNvPr id="5" name="Shape 3"/>
          <p:cNvSpPr/>
          <p:nvPr/>
        </p:nvSpPr>
        <p:spPr>
          <a:xfrm>
            <a:off x="640080" y="1737360"/>
            <a:ext cx="5355184" cy="1965960"/>
          </a:xfrm>
          <a:prstGeom prst="roundRect">
            <a:avLst>
              <a:gd name="adj" fmla="val 4651"/>
            </a:avLst>
          </a:prstGeom>
          <a:solidFill>
            <a:srgbClr val="141922"/>
          </a:solidFill>
          <a:ln/>
        </p:spPr>
      </p:sp>
      <p:sp>
        <p:nvSpPr>
          <p:cNvPr id="6" name="Text 4"/>
          <p:cNvSpPr txBox="1"/>
          <p:nvPr/>
        </p:nvSpPr>
        <p:spPr>
          <a:xfrm>
            <a:off x="960120" y="2011680"/>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01</a:t>
            </a:r>
            <a:endParaRPr lang="en-US" sz="1200" dirty="0"/>
          </a:p>
        </p:txBody>
      </p:sp>
      <p:sp>
        <p:nvSpPr>
          <p:cNvPr id="7" name="Text 5"/>
          <p:cNvSpPr txBox="1"/>
          <p:nvPr/>
        </p:nvSpPr>
        <p:spPr>
          <a:xfrm>
            <a:off x="960120" y="2331720"/>
            <a:ext cx="4715104" cy="411480"/>
          </a:xfrm>
          <a:prstGeom prst="rect">
            <a:avLst/>
          </a:prstGeom>
          <a:noFill/>
          <a:ln/>
        </p:spPr>
        <p:txBody>
          <a:bodyPr wrap="square" lIns="0" tIns="0" rIns="0" bIns="0" rtlCol="0" anchor="t"/>
          <a:lstStyle/>
          <a:p>
            <a:pPr indent="0" marL="0">
              <a:buNone/>
            </a:pPr>
            <a:r>
              <a:rPr lang="en-US" sz="2400" b="1" spc="-50" kern="0" dirty="0">
                <a:solidFill>
                  <a:srgbClr val="E8EDF2"/>
                </a:solidFill>
                <a:latin typeface="Arial" pitchFamily="34" charset="0"/>
                <a:ea typeface="Arial" pitchFamily="34" charset="-122"/>
                <a:cs typeface="Arial" pitchFamily="34" charset="-120"/>
              </a:rPr>
              <a:t>Free and open source.</a:t>
            </a:r>
            <a:endParaRPr lang="en-US" sz="2400" dirty="0"/>
          </a:p>
        </p:txBody>
      </p:sp>
      <p:sp>
        <p:nvSpPr>
          <p:cNvPr id="8" name="Text 6"/>
          <p:cNvSpPr txBox="1"/>
          <p:nvPr/>
        </p:nvSpPr>
        <p:spPr>
          <a:xfrm>
            <a:off x="960120" y="2788920"/>
            <a:ext cx="4715104" cy="868680"/>
          </a:xfrm>
          <a:prstGeom prst="rect">
            <a:avLst/>
          </a:prstGeom>
          <a:noFill/>
          <a:ln/>
        </p:spPr>
        <p:txBody>
          <a:bodyPr wrap="square" lIns="0" tIns="0" rIns="0" bIns="0" rtlCol="0" anchor="t"/>
          <a:lstStyle/>
          <a:p>
            <a:pPr indent="0" marL="0">
              <a:lnSpc>
                <a:spcPct val="115000"/>
              </a:lnSpc>
              <a:buNone/>
            </a:pPr>
            <a:r>
              <a:rPr lang="en-US" sz="1700" dirty="0">
                <a:solidFill>
                  <a:srgbClr val="C6CCD6"/>
                </a:solidFill>
                <a:latin typeface="Arial" pitchFamily="34" charset="0"/>
                <a:ea typeface="Arial" pitchFamily="34" charset="-122"/>
                <a:cs typeface="Arial" pitchFamily="34" charset="-120"/>
              </a:rPr>
              <a:t>AGPL-3.0. There is no edition to buy.</a:t>
            </a:r>
            <a:endParaRPr lang="en-US" sz="1700" dirty="0"/>
          </a:p>
        </p:txBody>
      </p:sp>
      <p:sp>
        <p:nvSpPr>
          <p:cNvPr id="9" name="Shape 7"/>
          <p:cNvSpPr/>
          <p:nvPr/>
        </p:nvSpPr>
        <p:spPr>
          <a:xfrm>
            <a:off x="6196432" y="1737360"/>
            <a:ext cx="5355184" cy="1965960"/>
          </a:xfrm>
          <a:prstGeom prst="roundRect">
            <a:avLst>
              <a:gd name="adj" fmla="val 4651"/>
            </a:avLst>
          </a:prstGeom>
          <a:solidFill>
            <a:srgbClr val="141922"/>
          </a:solidFill>
          <a:ln/>
        </p:spPr>
      </p:sp>
      <p:sp>
        <p:nvSpPr>
          <p:cNvPr id="10" name="Text 8"/>
          <p:cNvSpPr txBox="1"/>
          <p:nvPr/>
        </p:nvSpPr>
        <p:spPr>
          <a:xfrm>
            <a:off x="6516472" y="2011680"/>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02</a:t>
            </a:r>
            <a:endParaRPr lang="en-US" sz="1200" dirty="0"/>
          </a:p>
        </p:txBody>
      </p:sp>
      <p:sp>
        <p:nvSpPr>
          <p:cNvPr id="11" name="Text 9"/>
          <p:cNvSpPr txBox="1"/>
          <p:nvPr/>
        </p:nvSpPr>
        <p:spPr>
          <a:xfrm>
            <a:off x="6516472" y="2331720"/>
            <a:ext cx="4715104" cy="411480"/>
          </a:xfrm>
          <a:prstGeom prst="rect">
            <a:avLst/>
          </a:prstGeom>
          <a:noFill/>
          <a:ln/>
        </p:spPr>
        <p:txBody>
          <a:bodyPr wrap="square" lIns="0" tIns="0" rIns="0" bIns="0" rtlCol="0" anchor="t"/>
          <a:lstStyle/>
          <a:p>
            <a:pPr indent="0" marL="0">
              <a:buNone/>
            </a:pPr>
            <a:r>
              <a:rPr lang="en-US" sz="2400" b="1" spc="-50" kern="0" dirty="0">
                <a:solidFill>
                  <a:srgbClr val="E8EDF2"/>
                </a:solidFill>
                <a:latin typeface="Arial" pitchFamily="34" charset="0"/>
                <a:ea typeface="Arial" pitchFamily="34" charset="-122"/>
                <a:cs typeface="Arial" pitchFamily="34" charset="-120"/>
              </a:rPr>
              <a:t>The code is the graphic.</a:t>
            </a:r>
            <a:endParaRPr lang="en-US" sz="2400" dirty="0"/>
          </a:p>
        </p:txBody>
      </p:sp>
      <p:sp>
        <p:nvSpPr>
          <p:cNvPr id="12" name="Text 10"/>
          <p:cNvSpPr txBox="1"/>
          <p:nvPr/>
        </p:nvSpPr>
        <p:spPr>
          <a:xfrm>
            <a:off x="6516472" y="2788920"/>
            <a:ext cx="4715104" cy="868680"/>
          </a:xfrm>
          <a:prstGeom prst="rect">
            <a:avLst/>
          </a:prstGeom>
          <a:noFill/>
          <a:ln/>
        </p:spPr>
        <p:txBody>
          <a:bodyPr wrap="square" lIns="0" tIns="0" rIns="0" bIns="0" rtlCol="0" anchor="t"/>
          <a:lstStyle/>
          <a:p>
            <a:pPr indent="0" marL="0">
              <a:lnSpc>
                <a:spcPct val="115000"/>
              </a:lnSpc>
              <a:buNone/>
            </a:pPr>
            <a:r>
              <a:rPr lang="en-US" sz="1700" dirty="0">
                <a:solidFill>
                  <a:srgbClr val="C6CCD6"/>
                </a:solidFill>
                <a:latin typeface="Arial" pitchFamily="34" charset="0"/>
                <a:ea typeface="Arial" pitchFamily="34" charset="-122"/>
                <a:cs typeface="Arial" pitchFamily="34" charset="-120"/>
              </a:rPr>
              <a:t>Real HTML, CSS and JavaScript. A single-file export runs from a file, with no internet.</a:t>
            </a:r>
            <a:endParaRPr lang="en-US" sz="1700" dirty="0"/>
          </a:p>
        </p:txBody>
      </p:sp>
      <p:sp>
        <p:nvSpPr>
          <p:cNvPr id="13" name="Shape 11"/>
          <p:cNvSpPr/>
          <p:nvPr/>
        </p:nvSpPr>
        <p:spPr>
          <a:xfrm>
            <a:off x="640080" y="3904488"/>
            <a:ext cx="5355184" cy="1965960"/>
          </a:xfrm>
          <a:prstGeom prst="roundRect">
            <a:avLst>
              <a:gd name="adj" fmla="val 4651"/>
            </a:avLst>
          </a:prstGeom>
          <a:solidFill>
            <a:srgbClr val="141922"/>
          </a:solidFill>
          <a:ln/>
        </p:spPr>
      </p:sp>
      <p:sp>
        <p:nvSpPr>
          <p:cNvPr id="14" name="Text 12"/>
          <p:cNvSpPr txBox="1"/>
          <p:nvPr/>
        </p:nvSpPr>
        <p:spPr>
          <a:xfrm>
            <a:off x="960120" y="4178808"/>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03</a:t>
            </a:r>
            <a:endParaRPr lang="en-US" sz="1200" dirty="0"/>
          </a:p>
        </p:txBody>
      </p:sp>
      <p:sp>
        <p:nvSpPr>
          <p:cNvPr id="15" name="Text 13"/>
          <p:cNvSpPr txBox="1"/>
          <p:nvPr/>
        </p:nvSpPr>
        <p:spPr>
          <a:xfrm>
            <a:off x="960120" y="4498848"/>
            <a:ext cx="4715104" cy="411480"/>
          </a:xfrm>
          <a:prstGeom prst="rect">
            <a:avLst/>
          </a:prstGeom>
          <a:noFill/>
          <a:ln/>
        </p:spPr>
        <p:txBody>
          <a:bodyPr wrap="square" lIns="0" tIns="0" rIns="0" bIns="0" rtlCol="0" anchor="t"/>
          <a:lstStyle/>
          <a:p>
            <a:pPr indent="0" marL="0">
              <a:buNone/>
            </a:pPr>
            <a:r>
              <a:rPr lang="en-US" sz="2400" b="1" spc="-50" kern="0" dirty="0">
                <a:solidFill>
                  <a:srgbClr val="E8EDF2"/>
                </a:solidFill>
                <a:latin typeface="Arial" pitchFamily="34" charset="0"/>
                <a:ea typeface="Arial" pitchFamily="34" charset="-122"/>
                <a:cs typeface="Arial" pitchFamily="34" charset="-120"/>
              </a:rPr>
              <a:t>Export to what you already run.</a:t>
            </a:r>
            <a:endParaRPr lang="en-US" sz="2400" dirty="0"/>
          </a:p>
        </p:txBody>
      </p:sp>
      <p:sp>
        <p:nvSpPr>
          <p:cNvPr id="16" name="Text 14"/>
          <p:cNvSpPr txBox="1"/>
          <p:nvPr/>
        </p:nvSpPr>
        <p:spPr>
          <a:xfrm>
            <a:off x="960120" y="4956048"/>
            <a:ext cx="4715104" cy="868680"/>
          </a:xfrm>
          <a:prstGeom prst="rect">
            <a:avLst/>
          </a:prstGeom>
          <a:noFill/>
          <a:ln/>
        </p:spPr>
        <p:txBody>
          <a:bodyPr wrap="square" lIns="0" tIns="0" rIns="0" bIns="0" rtlCol="0" anchor="t"/>
          <a:lstStyle/>
          <a:p>
            <a:pPr indent="0" marL="0">
              <a:lnSpc>
                <a:spcPct val="115000"/>
              </a:lnSpc>
              <a:buNone/>
            </a:pPr>
            <a:r>
              <a:rPr lang="en-US" sz="1700" dirty="0">
                <a:solidFill>
                  <a:srgbClr val="C6CCD6"/>
                </a:solidFill>
                <a:latin typeface="Arial" pitchFamily="34" charset="0"/>
                <a:ea typeface="Arial" pitchFamily="34" charset="-122"/>
                <a:cs typeface="Arial" pitchFamily="34" charset="-120"/>
              </a:rPr>
              <a:t>SPX Graphics, CasparCG, OBS and vMix, H2R, LiveOS, OGraf.</a:t>
            </a:r>
            <a:endParaRPr lang="en-US" sz="1700" dirty="0"/>
          </a:p>
        </p:txBody>
      </p:sp>
      <p:sp>
        <p:nvSpPr>
          <p:cNvPr id="17" name="Shape 15"/>
          <p:cNvSpPr/>
          <p:nvPr/>
        </p:nvSpPr>
        <p:spPr>
          <a:xfrm>
            <a:off x="6196432" y="3904488"/>
            <a:ext cx="5355184" cy="1965960"/>
          </a:xfrm>
          <a:prstGeom prst="roundRect">
            <a:avLst>
              <a:gd name="adj" fmla="val 4651"/>
            </a:avLst>
          </a:prstGeom>
          <a:solidFill>
            <a:srgbClr val="141922"/>
          </a:solidFill>
          <a:ln/>
        </p:spPr>
      </p:sp>
      <p:sp>
        <p:nvSpPr>
          <p:cNvPr id="18" name="Text 16"/>
          <p:cNvSpPr txBox="1"/>
          <p:nvPr/>
        </p:nvSpPr>
        <p:spPr>
          <a:xfrm>
            <a:off x="6516472" y="4178808"/>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04</a:t>
            </a:r>
            <a:endParaRPr lang="en-US" sz="1200" dirty="0"/>
          </a:p>
        </p:txBody>
      </p:sp>
      <p:sp>
        <p:nvSpPr>
          <p:cNvPr id="19" name="Text 17"/>
          <p:cNvSpPr txBox="1"/>
          <p:nvPr/>
        </p:nvSpPr>
        <p:spPr>
          <a:xfrm>
            <a:off x="6516472" y="4498848"/>
            <a:ext cx="4715104" cy="411480"/>
          </a:xfrm>
          <a:prstGeom prst="rect">
            <a:avLst/>
          </a:prstGeom>
          <a:noFill/>
          <a:ln/>
        </p:spPr>
        <p:txBody>
          <a:bodyPr wrap="square" lIns="0" tIns="0" rIns="0" bIns="0" rtlCol="0" anchor="t"/>
          <a:lstStyle/>
          <a:p>
            <a:pPr indent="0" marL="0">
              <a:buNone/>
            </a:pPr>
            <a:r>
              <a:rPr lang="en-US" sz="2400" b="1" spc="-50" kern="0" dirty="0">
                <a:solidFill>
                  <a:srgbClr val="E8EDF2"/>
                </a:solidFill>
                <a:latin typeface="Arial" pitchFamily="34" charset="0"/>
                <a:ea typeface="Arial" pitchFamily="34" charset="-122"/>
                <a:cs typeface="Arial" pitchFamily="34" charset="-120"/>
              </a:rPr>
              <a:t>No account until you publish.</a:t>
            </a:r>
            <a:endParaRPr lang="en-US" sz="2400" dirty="0"/>
          </a:p>
        </p:txBody>
      </p:sp>
      <p:sp>
        <p:nvSpPr>
          <p:cNvPr id="20" name="Text 18"/>
          <p:cNvSpPr txBox="1"/>
          <p:nvPr/>
        </p:nvSpPr>
        <p:spPr>
          <a:xfrm>
            <a:off x="6516472" y="4956048"/>
            <a:ext cx="4715104" cy="868680"/>
          </a:xfrm>
          <a:prstGeom prst="rect">
            <a:avLst/>
          </a:prstGeom>
          <a:noFill/>
          <a:ln/>
        </p:spPr>
        <p:txBody>
          <a:bodyPr wrap="square" lIns="0" tIns="0" rIns="0" bIns="0" rtlCol="0" anchor="t"/>
          <a:lstStyle/>
          <a:p>
            <a:pPr indent="0" marL="0">
              <a:lnSpc>
                <a:spcPct val="115000"/>
              </a:lnSpc>
              <a:buNone/>
            </a:pPr>
            <a:r>
              <a:rPr lang="en-US" sz="1700" dirty="0">
                <a:solidFill>
                  <a:srgbClr val="C6CCD6"/>
                </a:solidFill>
                <a:latin typeface="Arial" pitchFamily="34" charset="0"/>
                <a:ea typeface="Arial" pitchFamily="34" charset="-122"/>
                <a:cs typeface="Arial" pitchFamily="34" charset="-120"/>
              </a:rPr>
              <a:t>Create, edit and export with none. A free one to publish a production and get its URL.</a:t>
            </a:r>
            <a:endParaRPr lang="en-US" sz="1700" dirty="0"/>
          </a:p>
        </p:txBody>
      </p:sp>
      <p:sp>
        <p:nvSpPr>
          <p:cNvPr id="21" name="Text 19"/>
          <p:cNvSpPr txBox="1"/>
          <p:nvPr/>
        </p:nvSpPr>
        <p:spPr>
          <a:xfrm>
            <a:off x="640080" y="6172200"/>
            <a:ext cx="9814255" cy="274320"/>
          </a:xfrm>
          <a:prstGeom prst="rect">
            <a:avLst/>
          </a:prstGeom>
          <a:noFill/>
          <a:ln/>
        </p:spPr>
        <p:txBody>
          <a:bodyPr wrap="square" lIns="0" tIns="0" rIns="0" bIns="0" rtlCol="0" anchor="t"/>
          <a:lstStyle/>
          <a:p>
            <a:pPr indent="0" marL="0">
              <a:buNone/>
            </a:pPr>
            <a:r>
              <a:rPr lang="en-US" sz="1400" dirty="0">
                <a:solidFill>
                  <a:srgbClr val="6B7382"/>
                </a:solidFill>
                <a:latin typeface="Arial" pitchFamily="34" charset="0"/>
                <a:ea typeface="Arial" pitchFamily="34" charset="-122"/>
                <a:cs typeface="Arial" pitchFamily="34" charset="-120"/>
              </a:rPr>
              <a:t>noacg.studio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3 / 7</a:t>
            </a:r>
            <a:endParaRPr lang="en-US" sz="1100" dirty="0"/>
          </a:p>
        </p:txBody>
      </p:sp>
      <p:sp>
        <p:nvSpPr>
          <p:cNvPr id="3" name="Text 1"/>
          <p:cNvSpPr txBox="1"/>
          <p:nvPr/>
        </p:nvSpPr>
        <p:spPr>
          <a:xfrm>
            <a:off x="640080" y="50292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OPENING  ·  THE SHAPE OF THE SESSION</a:t>
            </a:r>
            <a:endParaRPr lang="en-US" sz="1200" dirty="0"/>
          </a:p>
        </p:txBody>
      </p:sp>
      <p:sp>
        <p:nvSpPr>
          <p:cNvPr id="4" name="Text 2"/>
          <p:cNvSpPr txBox="1"/>
          <p:nvPr/>
        </p:nvSpPr>
        <p:spPr>
          <a:xfrm>
            <a:off x="640080" y="822960"/>
            <a:ext cx="10911535" cy="822960"/>
          </a:xfrm>
          <a:prstGeom prst="rect">
            <a:avLst/>
          </a:prstGeom>
          <a:noFill/>
          <a:ln/>
        </p:spPr>
        <p:txBody>
          <a:bodyPr wrap="square" lIns="0" tIns="0" rIns="0" bIns="0" rtlCol="0" anchor="t"/>
          <a:lstStyle/>
          <a:p>
            <a:pPr indent="0" marL="0">
              <a:buNone/>
            </a:pPr>
            <a:r>
              <a:rPr lang="en-US" sz="4400" b="1" spc="-100" kern="0" dirty="0">
                <a:solidFill>
                  <a:srgbClr val="E8EDF2"/>
                </a:solidFill>
                <a:latin typeface="Arial" pitchFamily="34" charset="0"/>
                <a:ea typeface="Arial" pitchFamily="34" charset="-122"/>
                <a:cs typeface="Arial" pitchFamily="34" charset="-120"/>
              </a:rPr>
              <a:t>Two roads in, one road out.</a:t>
            </a:r>
            <a:endParaRPr lang="en-US" sz="4400" dirty="0"/>
          </a:p>
        </p:txBody>
      </p:sp>
      <p:sp>
        <p:nvSpPr>
          <p:cNvPr id="5" name="Text 3"/>
          <p:cNvSpPr txBox="1"/>
          <p:nvPr/>
        </p:nvSpPr>
        <p:spPr>
          <a:xfrm>
            <a:off x="640080" y="1691640"/>
            <a:ext cx="3657600"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ROAD 1 AND ROAD 2</a:t>
            </a:r>
            <a:endParaRPr lang="en-US" sz="1100" dirty="0"/>
          </a:p>
        </p:txBody>
      </p:sp>
      <p:sp>
        <p:nvSpPr>
          <p:cNvPr id="6" name="Text 4"/>
          <p:cNvSpPr txBox="1"/>
          <p:nvPr/>
        </p:nvSpPr>
        <p:spPr>
          <a:xfrm>
            <a:off x="8808415" y="1691640"/>
            <a:ext cx="2743200" cy="237744"/>
          </a:xfrm>
          <a:prstGeom prst="rect">
            <a:avLst/>
          </a:prstGeom>
          <a:noFill/>
          <a:ln/>
        </p:spPr>
        <p:txBody>
          <a:bodyPr wrap="square" lIns="0" tIns="0" rIns="0" bIns="0" rtlCol="0" anchor="t"/>
          <a:lstStyle/>
          <a:p>
            <a:pPr algn="r" indent="0" marL="0">
              <a:buNone/>
            </a:pPr>
            <a:r>
              <a:rPr lang="en-US" sz="1100" spc="200" kern="0" dirty="0">
                <a:solidFill>
                  <a:srgbClr val="F6A623"/>
                </a:solidFill>
                <a:latin typeface="Consolas" pitchFamily="34" charset="0"/>
                <a:ea typeface="Consolas" pitchFamily="34" charset="-122"/>
                <a:cs typeface="Consolas" pitchFamily="34" charset="-120"/>
              </a:rPr>
              <a:t>THE ROOM'S SYSTEMS</a:t>
            </a:r>
            <a:endParaRPr lang="en-US" sz="1100" dirty="0"/>
          </a:p>
        </p:txBody>
      </p:sp>
      <p:sp>
        <p:nvSpPr>
          <p:cNvPr id="7" name="Shape 5"/>
          <p:cNvSpPr/>
          <p:nvPr/>
        </p:nvSpPr>
        <p:spPr>
          <a:xfrm>
            <a:off x="640080" y="1943100"/>
            <a:ext cx="2743200" cy="1143000"/>
          </a:xfrm>
          <a:prstGeom prst="roundRect">
            <a:avLst>
              <a:gd name="adj" fmla="val 8000"/>
            </a:avLst>
          </a:prstGeom>
          <a:solidFill>
            <a:srgbClr val="141922"/>
          </a:solidFill>
          <a:ln/>
        </p:spPr>
      </p:sp>
      <p:sp>
        <p:nvSpPr>
          <p:cNvPr id="8" name="Text 6"/>
          <p:cNvSpPr txBox="1"/>
          <p:nvPr/>
        </p:nvSpPr>
        <p:spPr>
          <a:xfrm>
            <a:off x="841248" y="2107692"/>
            <a:ext cx="914400" cy="182880"/>
          </a:xfrm>
          <a:prstGeom prst="rect">
            <a:avLst/>
          </a:prstGeom>
          <a:noFill/>
          <a:ln/>
        </p:spPr>
        <p:txBody>
          <a:bodyPr wrap="square" lIns="0" tIns="0" rIns="0" bIns="0" rtlCol="0" anchor="t"/>
          <a:lstStyle/>
          <a:p>
            <a:pPr indent="0" marL="0">
              <a:buNone/>
            </a:pPr>
            <a:r>
              <a:rPr lang="en-US" sz="1000" spc="200" kern="0" dirty="0">
                <a:solidFill>
                  <a:srgbClr val="F6A623"/>
                </a:solidFill>
                <a:latin typeface="Consolas" pitchFamily="34" charset="0"/>
                <a:ea typeface="Consolas" pitchFamily="34" charset="-122"/>
                <a:cs typeface="Consolas" pitchFamily="34" charset="-120"/>
              </a:rPr>
              <a:t>YOU</a:t>
            </a:r>
            <a:endParaRPr lang="en-US" sz="1000" dirty="0"/>
          </a:p>
        </p:txBody>
      </p:sp>
      <p:sp>
        <p:nvSpPr>
          <p:cNvPr id="9" name="Text 7"/>
          <p:cNvSpPr txBox="1"/>
          <p:nvPr/>
        </p:nvSpPr>
        <p:spPr>
          <a:xfrm>
            <a:off x="841248" y="2327148"/>
            <a:ext cx="2377440" cy="320040"/>
          </a:xfrm>
          <a:prstGeom prst="rect">
            <a:avLst/>
          </a:prstGeom>
          <a:noFill/>
          <a:ln/>
        </p:spPr>
        <p:txBody>
          <a:bodyPr wrap="square" lIns="0" tIns="0" rIns="0" bIns="0" rtlCol="0" anchor="t"/>
          <a:lstStyle/>
          <a:p>
            <a:pPr indent="0" marL="0">
              <a:buNone/>
            </a:pPr>
            <a:r>
              <a:rPr lang="en-US" sz="1800" b="1" dirty="0">
                <a:solidFill>
                  <a:srgbClr val="E8EDF2"/>
                </a:solidFill>
                <a:latin typeface="Arial" pitchFamily="34" charset="0"/>
                <a:ea typeface="Arial" pitchFamily="34" charset="-122"/>
                <a:cs typeface="Arial" pitchFamily="34" charset="-120"/>
              </a:rPr>
              <a:t>Your artwork</a:t>
            </a:r>
            <a:endParaRPr lang="en-US" sz="1800" dirty="0"/>
          </a:p>
        </p:txBody>
      </p:sp>
      <p:sp>
        <p:nvSpPr>
          <p:cNvPr id="10" name="Text 8"/>
          <p:cNvSpPr txBox="1"/>
          <p:nvPr/>
        </p:nvSpPr>
        <p:spPr>
          <a:xfrm>
            <a:off x="841248" y="2656332"/>
            <a:ext cx="2377440" cy="411480"/>
          </a:xfrm>
          <a:prstGeom prst="rect">
            <a:avLst/>
          </a:prstGeom>
          <a:noFill/>
          <a:ln/>
        </p:spPr>
        <p:txBody>
          <a:bodyPr wrap="square" lIns="0" tIns="0" rIns="0" bIns="0" rtlCol="0" anchor="t"/>
          <a:lstStyle/>
          <a:p>
            <a:pPr indent="0" marL="0">
              <a:buNone/>
            </a:pPr>
            <a:r>
              <a:rPr lang="en-US" sz="1250" dirty="0">
                <a:solidFill>
                  <a:srgbClr val="8B98A8"/>
                </a:solidFill>
                <a:latin typeface="Arial" pitchFamily="34" charset="0"/>
                <a:ea typeface="Arial" pitchFamily="34" charset="-122"/>
                <a:cs typeface="Arial" pitchFamily="34" charset="-120"/>
              </a:rPr>
              <a:t>Illustrator, Figma or Inkscape. An SVG.</a:t>
            </a:r>
            <a:endParaRPr lang="en-US" sz="1250" dirty="0"/>
          </a:p>
        </p:txBody>
      </p:sp>
      <p:sp>
        <p:nvSpPr>
          <p:cNvPr id="11" name="Shape 9"/>
          <p:cNvSpPr/>
          <p:nvPr/>
        </p:nvSpPr>
        <p:spPr>
          <a:xfrm>
            <a:off x="640080" y="4000500"/>
            <a:ext cx="2743200" cy="1143000"/>
          </a:xfrm>
          <a:prstGeom prst="roundRect">
            <a:avLst>
              <a:gd name="adj" fmla="val 8000"/>
            </a:avLst>
          </a:prstGeom>
          <a:solidFill>
            <a:srgbClr val="141922"/>
          </a:solidFill>
          <a:ln/>
        </p:spPr>
      </p:sp>
      <p:sp>
        <p:nvSpPr>
          <p:cNvPr id="12" name="Text 10"/>
          <p:cNvSpPr txBox="1"/>
          <p:nvPr/>
        </p:nvSpPr>
        <p:spPr>
          <a:xfrm>
            <a:off x="841248" y="4165092"/>
            <a:ext cx="914400" cy="182880"/>
          </a:xfrm>
          <a:prstGeom prst="rect">
            <a:avLst/>
          </a:prstGeom>
          <a:noFill/>
          <a:ln/>
        </p:spPr>
        <p:txBody>
          <a:bodyPr wrap="square" lIns="0" tIns="0" rIns="0" bIns="0" rtlCol="0" anchor="t"/>
          <a:lstStyle/>
          <a:p>
            <a:pPr indent="0" marL="0">
              <a:buNone/>
            </a:pPr>
            <a:r>
              <a:rPr lang="en-US" sz="1000" spc="200" kern="0" dirty="0">
                <a:solidFill>
                  <a:srgbClr val="F6A623"/>
                </a:solidFill>
                <a:latin typeface="Consolas" pitchFamily="34" charset="0"/>
                <a:ea typeface="Consolas" pitchFamily="34" charset="-122"/>
                <a:cs typeface="Consolas" pitchFamily="34" charset="-120"/>
              </a:rPr>
              <a:t>YOU</a:t>
            </a:r>
            <a:endParaRPr lang="en-US" sz="1000" dirty="0"/>
          </a:p>
        </p:txBody>
      </p:sp>
      <p:sp>
        <p:nvSpPr>
          <p:cNvPr id="13" name="Text 11"/>
          <p:cNvSpPr txBox="1"/>
          <p:nvPr/>
        </p:nvSpPr>
        <p:spPr>
          <a:xfrm>
            <a:off x="841248" y="4384548"/>
            <a:ext cx="2377440" cy="320040"/>
          </a:xfrm>
          <a:prstGeom prst="rect">
            <a:avLst/>
          </a:prstGeom>
          <a:noFill/>
          <a:ln/>
        </p:spPr>
        <p:txBody>
          <a:bodyPr wrap="square" lIns="0" tIns="0" rIns="0" bIns="0" rtlCol="0" anchor="t"/>
          <a:lstStyle/>
          <a:p>
            <a:pPr indent="0" marL="0">
              <a:buNone/>
            </a:pPr>
            <a:r>
              <a:rPr lang="en-US" sz="1800" b="1" dirty="0">
                <a:solidFill>
                  <a:srgbClr val="E8EDF2"/>
                </a:solidFill>
                <a:latin typeface="Arial" pitchFamily="34" charset="0"/>
                <a:ea typeface="Arial" pitchFamily="34" charset="-122"/>
                <a:cs typeface="Arial" pitchFamily="34" charset="-120"/>
              </a:rPr>
              <a:t>Your coding agent</a:t>
            </a:r>
            <a:endParaRPr lang="en-US" sz="1800" dirty="0"/>
          </a:p>
        </p:txBody>
      </p:sp>
      <p:sp>
        <p:nvSpPr>
          <p:cNvPr id="14" name="Text 12"/>
          <p:cNvSpPr txBox="1"/>
          <p:nvPr/>
        </p:nvSpPr>
        <p:spPr>
          <a:xfrm>
            <a:off x="841248" y="4713732"/>
            <a:ext cx="2377440" cy="411480"/>
          </a:xfrm>
          <a:prstGeom prst="rect">
            <a:avLst/>
          </a:prstGeom>
          <a:noFill/>
          <a:ln/>
        </p:spPr>
        <p:txBody>
          <a:bodyPr wrap="square" lIns="0" tIns="0" rIns="0" bIns="0" rtlCol="0" anchor="t"/>
          <a:lstStyle/>
          <a:p>
            <a:pPr indent="0" marL="0">
              <a:buNone/>
            </a:pPr>
            <a:r>
              <a:rPr lang="en-US" sz="1250" dirty="0">
                <a:solidFill>
                  <a:srgbClr val="8B98A8"/>
                </a:solidFill>
                <a:latin typeface="Arial" pitchFamily="34" charset="0"/>
                <a:ea typeface="Arial" pitchFamily="34" charset="-122"/>
                <a:cs typeface="Arial" pitchFamily="34" charset="-120"/>
              </a:rPr>
              <a:t>Claude Code, Codex, or the CLI alone.</a:t>
            </a:r>
            <a:endParaRPr lang="en-US" sz="1250" dirty="0"/>
          </a:p>
        </p:txBody>
      </p:sp>
      <p:sp>
        <p:nvSpPr>
          <p:cNvPr id="15" name="Shape 13"/>
          <p:cNvSpPr/>
          <p:nvPr/>
        </p:nvSpPr>
        <p:spPr>
          <a:xfrm>
            <a:off x="3840480" y="2971800"/>
            <a:ext cx="1828800" cy="1143000"/>
          </a:xfrm>
          <a:prstGeom prst="roundRect">
            <a:avLst>
              <a:gd name="adj" fmla="val 8000"/>
            </a:avLst>
          </a:prstGeom>
          <a:solidFill>
            <a:srgbClr val="141922"/>
          </a:solidFill>
          <a:ln/>
        </p:spPr>
      </p:sp>
      <p:sp>
        <p:nvSpPr>
          <p:cNvPr id="16" name="Text 14"/>
          <p:cNvSpPr txBox="1"/>
          <p:nvPr/>
        </p:nvSpPr>
        <p:spPr>
          <a:xfrm>
            <a:off x="4041648" y="3246120"/>
            <a:ext cx="1463040" cy="320040"/>
          </a:xfrm>
          <a:prstGeom prst="rect">
            <a:avLst/>
          </a:prstGeom>
          <a:noFill/>
          <a:ln/>
        </p:spPr>
        <p:txBody>
          <a:bodyPr wrap="square" lIns="0" tIns="0" rIns="0" bIns="0" rtlCol="0" anchor="t"/>
          <a:lstStyle/>
          <a:p>
            <a:pPr indent="0" marL="0">
              <a:buNone/>
            </a:pPr>
            <a:r>
              <a:rPr lang="en-US" sz="1800" b="1" dirty="0">
                <a:solidFill>
                  <a:srgbClr val="E8EDF2"/>
                </a:solidFill>
                <a:latin typeface="Arial" pitchFamily="34" charset="0"/>
                <a:ea typeface="Arial" pitchFamily="34" charset="-122"/>
                <a:cs typeface="Arial" pitchFamily="34" charset="-120"/>
              </a:rPr>
              <a:t>Library</a:t>
            </a:r>
            <a:endParaRPr lang="en-US" sz="1800" dirty="0"/>
          </a:p>
        </p:txBody>
      </p:sp>
      <p:sp>
        <p:nvSpPr>
          <p:cNvPr id="17" name="Text 15"/>
          <p:cNvSpPr txBox="1"/>
          <p:nvPr/>
        </p:nvSpPr>
        <p:spPr>
          <a:xfrm>
            <a:off x="4041648" y="3611880"/>
            <a:ext cx="1463040" cy="411480"/>
          </a:xfrm>
          <a:prstGeom prst="rect">
            <a:avLst/>
          </a:prstGeom>
          <a:noFill/>
          <a:ln/>
        </p:spPr>
        <p:txBody>
          <a:bodyPr wrap="square" lIns="0" tIns="0" rIns="0" bIns="0" rtlCol="0" anchor="t"/>
          <a:lstStyle/>
          <a:p>
            <a:pPr indent="0" marL="0">
              <a:buNone/>
            </a:pPr>
            <a:r>
              <a:rPr lang="en-US" sz="1250" dirty="0">
                <a:solidFill>
                  <a:srgbClr val="8B98A8"/>
                </a:solidFill>
                <a:latin typeface="Arial" pitchFamily="34" charset="0"/>
                <a:ea typeface="Arial" pitchFamily="34" charset="-122"/>
                <a:cs typeface="Arial" pitchFamily="34" charset="-120"/>
              </a:rPr>
              <a:t>One record, either road.</a:t>
            </a:r>
            <a:endParaRPr lang="en-US" sz="1250" dirty="0"/>
          </a:p>
        </p:txBody>
      </p:sp>
      <p:sp>
        <p:nvSpPr>
          <p:cNvPr id="18" name="Shape 16"/>
          <p:cNvSpPr/>
          <p:nvPr/>
        </p:nvSpPr>
        <p:spPr>
          <a:xfrm>
            <a:off x="6035040" y="2971800"/>
            <a:ext cx="1828800" cy="1143000"/>
          </a:xfrm>
          <a:prstGeom prst="roundRect">
            <a:avLst>
              <a:gd name="adj" fmla="val 8000"/>
            </a:avLst>
          </a:prstGeom>
          <a:solidFill>
            <a:srgbClr val="141922"/>
          </a:solidFill>
          <a:ln/>
        </p:spPr>
      </p:sp>
      <p:sp>
        <p:nvSpPr>
          <p:cNvPr id="19" name="Text 17"/>
          <p:cNvSpPr txBox="1"/>
          <p:nvPr/>
        </p:nvSpPr>
        <p:spPr>
          <a:xfrm>
            <a:off x="6236208" y="3246120"/>
            <a:ext cx="1463040" cy="320040"/>
          </a:xfrm>
          <a:prstGeom prst="rect">
            <a:avLst/>
          </a:prstGeom>
          <a:noFill/>
          <a:ln/>
        </p:spPr>
        <p:txBody>
          <a:bodyPr wrap="square" lIns="0" tIns="0" rIns="0" bIns="0" rtlCol="0" anchor="t"/>
          <a:lstStyle/>
          <a:p>
            <a:pPr indent="0" marL="0">
              <a:buNone/>
            </a:pPr>
            <a:r>
              <a:rPr lang="en-US" sz="1800" b="1" dirty="0">
                <a:solidFill>
                  <a:srgbClr val="E8EDF2"/>
                </a:solidFill>
                <a:latin typeface="Arial" pitchFamily="34" charset="0"/>
                <a:ea typeface="Arial" pitchFamily="34" charset="-122"/>
                <a:cs typeface="Arial" pitchFamily="34" charset="-120"/>
              </a:rPr>
              <a:t>Production</a:t>
            </a:r>
            <a:endParaRPr lang="en-US" sz="1800" dirty="0"/>
          </a:p>
        </p:txBody>
      </p:sp>
      <p:sp>
        <p:nvSpPr>
          <p:cNvPr id="20" name="Text 18"/>
          <p:cNvSpPr txBox="1"/>
          <p:nvPr/>
        </p:nvSpPr>
        <p:spPr>
          <a:xfrm>
            <a:off x="6236208" y="3611880"/>
            <a:ext cx="1463040" cy="411480"/>
          </a:xfrm>
          <a:prstGeom prst="rect">
            <a:avLst/>
          </a:prstGeom>
          <a:noFill/>
          <a:ln/>
        </p:spPr>
        <p:txBody>
          <a:bodyPr wrap="square" lIns="0" tIns="0" rIns="0" bIns="0" rtlCol="0" anchor="t"/>
          <a:lstStyle/>
          <a:p>
            <a:pPr indent="0" marL="0">
              <a:buNone/>
            </a:pPr>
            <a:r>
              <a:rPr lang="en-US" sz="1250" dirty="0">
                <a:solidFill>
                  <a:srgbClr val="8B98A8"/>
                </a:solidFill>
                <a:latin typeface="Arial" pitchFamily="34" charset="0"/>
                <a:ea typeface="Arial" pitchFamily="34" charset="-122"/>
                <a:cs typeface="Arial" pitchFamily="34" charset="-120"/>
              </a:rPr>
              <a:t>Cues. Take, Update, Out.</a:t>
            </a:r>
            <a:endParaRPr lang="en-US" sz="1250" dirty="0"/>
          </a:p>
        </p:txBody>
      </p:sp>
      <p:sp>
        <p:nvSpPr>
          <p:cNvPr id="21" name="Shape 19"/>
          <p:cNvSpPr/>
          <p:nvPr/>
        </p:nvSpPr>
        <p:spPr>
          <a:xfrm>
            <a:off x="8229600" y="2971800"/>
            <a:ext cx="1691640" cy="1143000"/>
          </a:xfrm>
          <a:prstGeom prst="roundRect">
            <a:avLst>
              <a:gd name="adj" fmla="val 8000"/>
            </a:avLst>
          </a:prstGeom>
          <a:solidFill>
            <a:srgbClr val="141922"/>
          </a:solidFill>
          <a:ln w="19050">
            <a:solidFill>
              <a:srgbClr val="F6A623"/>
            </a:solidFill>
            <a:prstDash val="solid"/>
          </a:ln>
        </p:spPr>
      </p:sp>
      <p:sp>
        <p:nvSpPr>
          <p:cNvPr id="22" name="Text 20"/>
          <p:cNvSpPr txBox="1"/>
          <p:nvPr/>
        </p:nvSpPr>
        <p:spPr>
          <a:xfrm>
            <a:off x="8430768" y="3246120"/>
            <a:ext cx="1325880" cy="320040"/>
          </a:xfrm>
          <a:prstGeom prst="rect">
            <a:avLst/>
          </a:prstGeom>
          <a:noFill/>
          <a:ln/>
        </p:spPr>
        <p:txBody>
          <a:bodyPr wrap="square" lIns="0" tIns="0" rIns="0" bIns="0" rtlCol="0" anchor="t"/>
          <a:lstStyle/>
          <a:p>
            <a:pPr indent="0" marL="0">
              <a:buNone/>
            </a:pPr>
            <a:r>
              <a:rPr lang="en-US" sz="1800" b="1" dirty="0">
                <a:solidFill>
                  <a:srgbClr val="E8EDF2"/>
                </a:solidFill>
                <a:latin typeface="Arial" pitchFamily="34" charset="0"/>
                <a:ea typeface="Arial" pitchFamily="34" charset="-122"/>
                <a:cs typeface="Arial" pitchFamily="34" charset="-120"/>
              </a:rPr>
              <a:t>One URL</a:t>
            </a:r>
            <a:endParaRPr lang="en-US" sz="1800" dirty="0"/>
          </a:p>
        </p:txBody>
      </p:sp>
      <p:sp>
        <p:nvSpPr>
          <p:cNvPr id="23" name="Text 21"/>
          <p:cNvSpPr txBox="1"/>
          <p:nvPr/>
        </p:nvSpPr>
        <p:spPr>
          <a:xfrm>
            <a:off x="8430768" y="3611880"/>
            <a:ext cx="1325880" cy="411480"/>
          </a:xfrm>
          <a:prstGeom prst="rect">
            <a:avLst/>
          </a:prstGeom>
          <a:noFill/>
          <a:ln/>
        </p:spPr>
        <p:txBody>
          <a:bodyPr wrap="square" lIns="0" tIns="0" rIns="0" bIns="0" rtlCol="0" anchor="t"/>
          <a:lstStyle/>
          <a:p>
            <a:pPr indent="0" marL="0">
              <a:buNone/>
            </a:pPr>
            <a:r>
              <a:rPr lang="en-US" sz="1250" dirty="0">
                <a:solidFill>
                  <a:srgbClr val="8B98A8"/>
                </a:solidFill>
                <a:latin typeface="Arial" pitchFamily="34" charset="0"/>
                <a:ea typeface="Arial" pitchFamily="34" charset="-122"/>
                <a:cs typeface="Arial" pitchFamily="34" charset="-120"/>
              </a:rPr>
              <a:t>The output, live.</a:t>
            </a:r>
            <a:endParaRPr lang="en-US" sz="1250" dirty="0"/>
          </a:p>
        </p:txBody>
      </p:sp>
      <p:sp>
        <p:nvSpPr>
          <p:cNvPr id="24" name="Shape 22"/>
          <p:cNvSpPr/>
          <p:nvPr/>
        </p:nvSpPr>
        <p:spPr>
          <a:xfrm>
            <a:off x="3383280" y="2514600"/>
            <a:ext cx="457200" cy="1028700"/>
          </a:xfrm>
          <a:prstGeom prst="line">
            <a:avLst/>
          </a:prstGeom>
          <a:noFill/>
          <a:ln w="19050">
            <a:solidFill>
              <a:srgbClr val="8B98A8"/>
            </a:solidFill>
            <a:prstDash val="solid"/>
            <a:tailEnd type="triangle"/>
          </a:ln>
        </p:spPr>
      </p:sp>
      <p:sp>
        <p:nvSpPr>
          <p:cNvPr id="25" name="Shape 23"/>
          <p:cNvSpPr/>
          <p:nvPr/>
        </p:nvSpPr>
        <p:spPr>
          <a:xfrm flipV="1">
            <a:off x="3383280" y="3543300"/>
            <a:ext cx="457200" cy="1028700"/>
          </a:xfrm>
          <a:prstGeom prst="line">
            <a:avLst/>
          </a:prstGeom>
          <a:noFill/>
          <a:ln w="19050">
            <a:solidFill>
              <a:srgbClr val="8B98A8"/>
            </a:solidFill>
            <a:prstDash val="solid"/>
            <a:tailEnd type="triangle"/>
          </a:ln>
        </p:spPr>
      </p:sp>
      <p:sp>
        <p:nvSpPr>
          <p:cNvPr id="26" name="Shape 24"/>
          <p:cNvSpPr/>
          <p:nvPr/>
        </p:nvSpPr>
        <p:spPr>
          <a:xfrm>
            <a:off x="5669280" y="3543300"/>
            <a:ext cx="365760" cy="0"/>
          </a:xfrm>
          <a:prstGeom prst="line">
            <a:avLst/>
          </a:prstGeom>
          <a:noFill/>
          <a:ln w="19050">
            <a:solidFill>
              <a:srgbClr val="8B98A8"/>
            </a:solidFill>
            <a:prstDash val="solid"/>
            <a:tailEnd type="triangle"/>
          </a:ln>
        </p:spPr>
      </p:sp>
      <p:sp>
        <p:nvSpPr>
          <p:cNvPr id="27" name="Shape 25"/>
          <p:cNvSpPr/>
          <p:nvPr/>
        </p:nvSpPr>
        <p:spPr>
          <a:xfrm>
            <a:off x="7863840" y="3543300"/>
            <a:ext cx="365760" cy="0"/>
          </a:xfrm>
          <a:prstGeom prst="line">
            <a:avLst/>
          </a:prstGeom>
          <a:noFill/>
          <a:ln w="19050">
            <a:solidFill>
              <a:srgbClr val="8B98A8"/>
            </a:solidFill>
            <a:prstDash val="solid"/>
            <a:tailEnd type="triangle"/>
          </a:ln>
        </p:spPr>
      </p:sp>
      <p:sp>
        <p:nvSpPr>
          <p:cNvPr id="28" name="Shape 26"/>
          <p:cNvSpPr/>
          <p:nvPr/>
        </p:nvSpPr>
        <p:spPr>
          <a:xfrm>
            <a:off x="10378440" y="2194560"/>
            <a:ext cx="1173175" cy="640080"/>
          </a:xfrm>
          <a:prstGeom prst="roundRect">
            <a:avLst>
              <a:gd name="adj" fmla="val 14286"/>
            </a:avLst>
          </a:prstGeom>
          <a:solidFill>
            <a:srgbClr val="141922"/>
          </a:solidFill>
          <a:ln/>
        </p:spPr>
      </p:sp>
      <p:sp>
        <p:nvSpPr>
          <p:cNvPr id="29" name="Text 27"/>
          <p:cNvSpPr txBox="1"/>
          <p:nvPr/>
        </p:nvSpPr>
        <p:spPr>
          <a:xfrm>
            <a:off x="10378440" y="2194560"/>
            <a:ext cx="1173175" cy="640080"/>
          </a:xfrm>
          <a:prstGeom prst="rect">
            <a:avLst/>
          </a:prstGeom>
          <a:noFill/>
          <a:ln/>
        </p:spPr>
        <p:txBody>
          <a:bodyPr wrap="square" lIns="0" tIns="0" rIns="0" bIns="0" rtlCol="0" anchor="ctr"/>
          <a:lstStyle/>
          <a:p>
            <a:pPr algn="ctr" indent="0" marL="0">
              <a:buNone/>
            </a:pPr>
            <a:r>
              <a:rPr lang="en-US" sz="1400" b="1" dirty="0">
                <a:solidFill>
                  <a:srgbClr val="E8EDF2"/>
                </a:solidFill>
                <a:latin typeface="Arial" pitchFamily="34" charset="0"/>
                <a:ea typeface="Arial" pitchFamily="34" charset="-122"/>
                <a:cs typeface="Arial" pitchFamily="34" charset="-120"/>
              </a:rPr>
              <a:t>OBS</a:t>
            </a:r>
            <a:endParaRPr lang="en-US" sz="1400" dirty="0"/>
          </a:p>
        </p:txBody>
      </p:sp>
      <p:sp>
        <p:nvSpPr>
          <p:cNvPr id="30" name="Shape 28"/>
          <p:cNvSpPr/>
          <p:nvPr/>
        </p:nvSpPr>
        <p:spPr>
          <a:xfrm>
            <a:off x="10378440" y="3223260"/>
            <a:ext cx="1173175" cy="640080"/>
          </a:xfrm>
          <a:prstGeom prst="roundRect">
            <a:avLst>
              <a:gd name="adj" fmla="val 14286"/>
            </a:avLst>
          </a:prstGeom>
          <a:solidFill>
            <a:srgbClr val="141922"/>
          </a:solidFill>
          <a:ln/>
        </p:spPr>
      </p:sp>
      <p:sp>
        <p:nvSpPr>
          <p:cNvPr id="31" name="Text 29"/>
          <p:cNvSpPr txBox="1"/>
          <p:nvPr/>
        </p:nvSpPr>
        <p:spPr>
          <a:xfrm>
            <a:off x="10378440" y="3223260"/>
            <a:ext cx="1173175" cy="640080"/>
          </a:xfrm>
          <a:prstGeom prst="rect">
            <a:avLst/>
          </a:prstGeom>
          <a:noFill/>
          <a:ln/>
        </p:spPr>
        <p:txBody>
          <a:bodyPr wrap="square" lIns="0" tIns="0" rIns="0" bIns="0" rtlCol="0" anchor="ctr"/>
          <a:lstStyle/>
          <a:p>
            <a:pPr algn="ctr" indent="0" marL="0">
              <a:buNone/>
            </a:pPr>
            <a:r>
              <a:rPr lang="en-US" sz="1400" b="1" dirty="0">
                <a:solidFill>
                  <a:srgbClr val="E8EDF2"/>
                </a:solidFill>
                <a:latin typeface="Arial" pitchFamily="34" charset="0"/>
                <a:ea typeface="Arial" pitchFamily="34" charset="-122"/>
                <a:cs typeface="Arial" pitchFamily="34" charset="-120"/>
              </a:rPr>
              <a:t>CasparCG</a:t>
            </a:r>
            <a:endParaRPr lang="en-US" sz="1400" dirty="0"/>
          </a:p>
        </p:txBody>
      </p:sp>
      <p:sp>
        <p:nvSpPr>
          <p:cNvPr id="32" name="Shape 30"/>
          <p:cNvSpPr/>
          <p:nvPr/>
        </p:nvSpPr>
        <p:spPr>
          <a:xfrm>
            <a:off x="10378440" y="4251960"/>
            <a:ext cx="1173175" cy="640080"/>
          </a:xfrm>
          <a:prstGeom prst="roundRect">
            <a:avLst>
              <a:gd name="adj" fmla="val 14286"/>
            </a:avLst>
          </a:prstGeom>
          <a:solidFill>
            <a:srgbClr val="141922"/>
          </a:solidFill>
          <a:ln/>
        </p:spPr>
      </p:sp>
      <p:sp>
        <p:nvSpPr>
          <p:cNvPr id="33" name="Text 31"/>
          <p:cNvSpPr txBox="1"/>
          <p:nvPr/>
        </p:nvSpPr>
        <p:spPr>
          <a:xfrm>
            <a:off x="10378440" y="4251960"/>
            <a:ext cx="1173175" cy="640080"/>
          </a:xfrm>
          <a:prstGeom prst="rect">
            <a:avLst/>
          </a:prstGeom>
          <a:noFill/>
          <a:ln/>
        </p:spPr>
        <p:txBody>
          <a:bodyPr wrap="square" lIns="0" tIns="0" rIns="0" bIns="0" rtlCol="0" anchor="ctr"/>
          <a:lstStyle/>
          <a:p>
            <a:pPr algn="ctr" indent="0" marL="0">
              <a:buNone/>
            </a:pPr>
            <a:r>
              <a:rPr lang="en-US" sz="1400" b="1" dirty="0">
                <a:solidFill>
                  <a:srgbClr val="E8EDF2"/>
                </a:solidFill>
                <a:latin typeface="Arial" pitchFamily="34" charset="0"/>
                <a:ea typeface="Arial" pitchFamily="34" charset="-122"/>
                <a:cs typeface="Arial" pitchFamily="34" charset="-120"/>
              </a:rPr>
              <a:t>OGraf</a:t>
            </a:r>
            <a:endParaRPr lang="en-US" sz="1400" dirty="0"/>
          </a:p>
        </p:txBody>
      </p:sp>
      <p:sp>
        <p:nvSpPr>
          <p:cNvPr id="34" name="Shape 32"/>
          <p:cNvSpPr/>
          <p:nvPr/>
        </p:nvSpPr>
        <p:spPr>
          <a:xfrm flipV="1">
            <a:off x="9921240" y="2514600"/>
            <a:ext cx="457200" cy="1028700"/>
          </a:xfrm>
          <a:prstGeom prst="line">
            <a:avLst/>
          </a:prstGeom>
          <a:noFill/>
          <a:ln w="19050">
            <a:solidFill>
              <a:srgbClr val="F6A623"/>
            </a:solidFill>
            <a:prstDash val="solid"/>
            <a:tailEnd type="triangle"/>
          </a:ln>
        </p:spPr>
      </p:sp>
      <p:sp>
        <p:nvSpPr>
          <p:cNvPr id="35" name="Shape 33"/>
          <p:cNvSpPr/>
          <p:nvPr/>
        </p:nvSpPr>
        <p:spPr>
          <a:xfrm>
            <a:off x="9921240" y="3543300"/>
            <a:ext cx="457200" cy="0"/>
          </a:xfrm>
          <a:prstGeom prst="line">
            <a:avLst/>
          </a:prstGeom>
          <a:noFill/>
          <a:ln w="19050">
            <a:solidFill>
              <a:srgbClr val="F6A623"/>
            </a:solidFill>
            <a:prstDash val="solid"/>
            <a:tailEnd type="triangle"/>
          </a:ln>
        </p:spPr>
      </p:sp>
      <p:sp>
        <p:nvSpPr>
          <p:cNvPr id="36" name="Shape 34"/>
          <p:cNvSpPr/>
          <p:nvPr/>
        </p:nvSpPr>
        <p:spPr>
          <a:xfrm>
            <a:off x="9921240" y="3543300"/>
            <a:ext cx="457200" cy="1028700"/>
          </a:xfrm>
          <a:prstGeom prst="line">
            <a:avLst/>
          </a:prstGeom>
          <a:noFill/>
          <a:ln w="19050">
            <a:solidFill>
              <a:srgbClr val="F6A623"/>
            </a:solidFill>
            <a:prstDash val="solid"/>
            <a:tailEnd type="triangle"/>
          </a:ln>
        </p:spPr>
      </p:sp>
      <p:sp>
        <p:nvSpPr>
          <p:cNvPr id="37" name="Text 35"/>
          <p:cNvSpPr txBox="1"/>
          <p:nvPr/>
        </p:nvSpPr>
        <p:spPr>
          <a:xfrm>
            <a:off x="3840480" y="4297680"/>
            <a:ext cx="2651760" cy="548640"/>
          </a:xfrm>
          <a:prstGeom prst="rect">
            <a:avLst/>
          </a:prstGeom>
          <a:noFill/>
          <a:ln/>
        </p:spPr>
        <p:txBody>
          <a:bodyPr wrap="square" lIns="0" tIns="0" rIns="0" bIns="0" rtlCol="0" anchor="t"/>
          <a:lstStyle/>
          <a:p>
            <a:pPr indent="0" marL="0">
              <a:lnSpc>
                <a:spcPct val="115000"/>
              </a:lnSpc>
              <a:buNone/>
            </a:pPr>
            <a:r>
              <a:rPr lang="en-US" sz="1250" dirty="0">
                <a:solidFill>
                  <a:srgbClr val="8B98A8"/>
                </a:solidFill>
                <a:latin typeface="Arial" pitchFamily="34" charset="0"/>
                <a:ea typeface="Arial" pitchFamily="34" charset="-122"/>
                <a:cs typeface="Arial" pitchFamily="34" charset="-120"/>
              </a:rPr>
              <a:t>Or export a package from the library and play the file with no network at all.</a:t>
            </a:r>
            <a:endParaRPr lang="en-US" sz="1250" dirty="0"/>
          </a:p>
        </p:txBody>
      </p:sp>
      <p:sp>
        <p:nvSpPr>
          <p:cNvPr id="38" name="Text 36"/>
          <p:cNvSpPr txBox="1"/>
          <p:nvPr/>
        </p:nvSpPr>
        <p:spPr>
          <a:xfrm>
            <a:off x="640080" y="5486400"/>
            <a:ext cx="10911535" cy="457200"/>
          </a:xfrm>
          <a:prstGeom prst="rect">
            <a:avLst/>
          </a:prstGeom>
          <a:noFill/>
          <a:ln/>
        </p:spPr>
        <p:txBody>
          <a:bodyPr wrap="square" lIns="0" tIns="0" rIns="0" bIns="0" rtlCol="0" anchor="t"/>
          <a:lstStyle/>
          <a:p>
            <a:pPr indent="0" marL="0">
              <a:buNone/>
            </a:pPr>
            <a:r>
              <a:rPr lang="en-US" sz="1700" dirty="0">
                <a:solidFill>
                  <a:srgbClr val="C6CCD6"/>
                </a:solidFill>
                <a:latin typeface="Arial" pitchFamily="34" charset="0"/>
                <a:ea typeface="Arial" pitchFamily="34" charset="-122"/>
                <a:cs typeface="Arial" pitchFamily="34" charset="-120"/>
              </a:rPr>
              <a:t>Both roads end in the library. From there it is the same three steps, so we do that part once, together, at the end.</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4 / 7</a:t>
            </a:r>
            <a:endParaRPr lang="en-US" sz="1100" dirty="0"/>
          </a:p>
        </p:txBody>
      </p:sp>
      <p:sp>
        <p:nvSpPr>
          <p:cNvPr id="3" name="Text 1"/>
          <p:cNvSpPr txBox="1"/>
          <p:nvPr/>
        </p:nvSpPr>
        <p:spPr>
          <a:xfrm>
            <a:off x="640080" y="50292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ROAD 1  ·  20 MIN  ·  YOU DRIVE</a:t>
            </a:r>
            <a:endParaRPr lang="en-US" sz="1200" dirty="0"/>
          </a:p>
        </p:txBody>
      </p:sp>
      <p:sp>
        <p:nvSpPr>
          <p:cNvPr id="4" name="Text 2"/>
          <p:cNvSpPr txBox="1"/>
          <p:nvPr/>
        </p:nvSpPr>
        <p:spPr>
          <a:xfrm>
            <a:off x="640080" y="822960"/>
            <a:ext cx="10911535" cy="822960"/>
          </a:xfrm>
          <a:prstGeom prst="rect">
            <a:avLst/>
          </a:prstGeom>
          <a:noFill/>
          <a:ln/>
        </p:spPr>
        <p:txBody>
          <a:bodyPr wrap="square" lIns="0" tIns="0" rIns="0" bIns="0" rtlCol="0" anchor="t"/>
          <a:lstStyle/>
          <a:p>
            <a:pPr indent="0" marL="0">
              <a:buNone/>
            </a:pPr>
            <a:r>
              <a:rPr lang="en-US" sz="4400" b="1" spc="-100" kern="0" dirty="0">
                <a:solidFill>
                  <a:srgbClr val="E8EDF2"/>
                </a:solidFill>
                <a:latin typeface="Arial" pitchFamily="34" charset="0"/>
                <a:ea typeface="Arial" pitchFamily="34" charset="-122"/>
                <a:cs typeface="Arial" pitchFamily="34" charset="-120"/>
              </a:rPr>
              <a:t>Your own graphic</a:t>
            </a:r>
            <a:endParaRPr lang="en-US" sz="4400" dirty="0"/>
          </a:p>
        </p:txBody>
      </p:sp>
      <p:sp>
        <p:nvSpPr>
          <p:cNvPr id="5" name="Text 3"/>
          <p:cNvSpPr txBox="1"/>
          <p:nvPr/>
        </p:nvSpPr>
        <p:spPr>
          <a:xfrm>
            <a:off x="640080" y="1783080"/>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01</a:t>
            </a:r>
            <a:endParaRPr lang="en-US" sz="1400" dirty="0"/>
          </a:p>
        </p:txBody>
      </p:sp>
      <p:sp>
        <p:nvSpPr>
          <p:cNvPr id="6" name="Text 4"/>
          <p:cNvSpPr txBox="1"/>
          <p:nvPr/>
        </p:nvSpPr>
        <p:spPr>
          <a:xfrm>
            <a:off x="1143000" y="1737360"/>
            <a:ext cx="5897880" cy="868680"/>
          </a:xfrm>
          <a:prstGeom prst="rect">
            <a:avLst/>
          </a:prstGeom>
          <a:noFill/>
          <a:ln/>
        </p:spPr>
        <p:txBody>
          <a:bodyPr wrap="square" lIns="0" tIns="0" rIns="0" bIns="0" rtlCol="0" anchor="t"/>
          <a:lstStyle/>
          <a:p>
            <a:pPr indent="0" marL="0">
              <a:spcAft>
                <a:spcPts val="400"/>
              </a:spcAft>
              <a:buNone/>
            </a:pPr>
            <a:r>
              <a:rPr lang="en-US" sz="1900" dirty="0">
                <a:solidFill>
                  <a:srgbClr val="E8EDF2"/>
                </a:solidFill>
                <a:latin typeface="Arial" pitchFamily="34" charset="0"/>
                <a:ea typeface="Arial" pitchFamily="34" charset="-122"/>
                <a:cs typeface="Arial" pitchFamily="34" charset="-120"/>
              </a:rPr>
              <a:t>Take the lower-third sample, or a file you drew to the five rules.</a:t>
            </a:r>
            <a:endParaRPr lang="en-US" sz="1900" dirty="0"/>
          </a:p>
          <a:p>
            <a:pPr indent="0" marL="0">
              <a:buNone/>
            </a:pPr>
            <a:r>
              <a:rPr lang="en-US" sz="1300" dirty="0">
                <a:solidFill>
                  <a:srgbClr val="8B98A8"/>
                </a:solidFill>
                <a:latin typeface="Consolas" pitchFamily="34" charset="0"/>
                <a:ea typeface="Consolas" pitchFamily="34" charset="-122"/>
                <a:cs typeface="Consolas" pitchFamily="34" charset="-120"/>
              </a:rPr>
              <a:t>/docs#svg-rules  ·  samples: lower-third, scorebug, quiz-board</a:t>
            </a:r>
            <a:endParaRPr lang="en-US" sz="1900" dirty="0"/>
          </a:p>
        </p:txBody>
      </p:sp>
      <p:sp>
        <p:nvSpPr>
          <p:cNvPr id="7" name="Text 5"/>
          <p:cNvSpPr txBox="1"/>
          <p:nvPr/>
        </p:nvSpPr>
        <p:spPr>
          <a:xfrm>
            <a:off x="640080" y="2642616"/>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02</a:t>
            </a:r>
            <a:endParaRPr lang="en-US" sz="1400" dirty="0"/>
          </a:p>
        </p:txBody>
      </p:sp>
      <p:sp>
        <p:nvSpPr>
          <p:cNvPr id="8" name="Text 6"/>
          <p:cNvSpPr txBox="1"/>
          <p:nvPr/>
        </p:nvSpPr>
        <p:spPr>
          <a:xfrm>
            <a:off x="1143000" y="2596896"/>
            <a:ext cx="5897880" cy="868680"/>
          </a:xfrm>
          <a:prstGeom prst="rect">
            <a:avLst/>
          </a:prstGeom>
          <a:noFill/>
          <a:ln/>
        </p:spPr>
        <p:txBody>
          <a:bodyPr wrap="square" lIns="0" tIns="0" rIns="0" bIns="0" rtlCol="0" anchor="t"/>
          <a:lstStyle/>
          <a:p>
            <a:pPr indent="0" marL="0">
              <a:spcAft>
                <a:spcPts val="400"/>
              </a:spcAft>
              <a:buNone/>
            </a:pPr>
            <a:r>
              <a:rPr lang="en-US" sz="1900" dirty="0">
                <a:solidFill>
                  <a:srgbClr val="E8EDF2"/>
                </a:solidFill>
                <a:latin typeface="Arial" pitchFamily="34" charset="0"/>
                <a:ea typeface="Arial" pitchFamily="34" charset="-122"/>
                <a:cs typeface="Arial" pitchFamily="34" charset="-120"/>
              </a:rPr>
              <a:t>Drop it. The layer names become the field names.</a:t>
            </a:r>
            <a:endParaRPr lang="en-US" sz="1900" dirty="0"/>
          </a:p>
          <a:p>
            <a:pPr indent="0" marL="0">
              <a:buNone/>
            </a:pPr>
            <a:r>
              <a:rPr lang="en-US" sz="1300" dirty="0">
                <a:solidFill>
                  <a:srgbClr val="8B98A8"/>
                </a:solidFill>
                <a:latin typeface="Consolas" pitchFamily="34" charset="0"/>
                <a:ea typeface="Consolas" pitchFamily="34" charset="-122"/>
                <a:cs typeface="Consolas" pitchFamily="34" charset="-120"/>
              </a:rPr>
              <a:t>noacg.studio/app  &gt;  New graphic  &gt;  Import graphic</a:t>
            </a:r>
            <a:endParaRPr lang="en-US" sz="1900" dirty="0"/>
          </a:p>
        </p:txBody>
      </p:sp>
      <p:sp>
        <p:nvSpPr>
          <p:cNvPr id="9" name="Text 7"/>
          <p:cNvSpPr txBox="1"/>
          <p:nvPr/>
        </p:nvSpPr>
        <p:spPr>
          <a:xfrm>
            <a:off x="640080" y="3502152"/>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03</a:t>
            </a:r>
            <a:endParaRPr lang="en-US" sz="1400" dirty="0"/>
          </a:p>
        </p:txBody>
      </p:sp>
      <p:sp>
        <p:nvSpPr>
          <p:cNvPr id="10" name="Text 8"/>
          <p:cNvSpPr txBox="1"/>
          <p:nvPr/>
        </p:nvSpPr>
        <p:spPr>
          <a:xfrm>
            <a:off x="1143000" y="3456432"/>
            <a:ext cx="5897880" cy="868680"/>
          </a:xfrm>
          <a:prstGeom prst="rect">
            <a:avLst/>
          </a:prstGeom>
          <a:noFill/>
          <a:ln/>
        </p:spPr>
        <p:txBody>
          <a:bodyPr wrap="square" lIns="0" tIns="0" rIns="0" bIns="0" rtlCol="0" anchor="t"/>
          <a:lstStyle/>
          <a:p>
            <a:pPr indent="0" marL="0">
              <a:spcAft>
                <a:spcPts val="400"/>
              </a:spcAft>
              <a:buNone/>
            </a:pPr>
            <a:r>
              <a:rPr lang="en-US" sz="1900" dirty="0">
                <a:solidFill>
                  <a:srgbClr val="E8EDF2"/>
                </a:solidFill>
                <a:latin typeface="Arial" pitchFamily="34" charset="0"/>
                <a:ea typeface="Arial" pitchFamily="34" charset="-122"/>
                <a:cs typeface="Arial" pitchFamily="34" charset="-120"/>
              </a:rPr>
              <a:t>Type a name longer than you drew for. Watch what the panel does.</a:t>
            </a:r>
            <a:endParaRPr lang="en-US" sz="1900" dirty="0"/>
          </a:p>
          <a:p>
            <a:pPr indent="0" marL="0">
              <a:buNone/>
            </a:pPr>
            <a:r>
              <a:rPr lang="en-US" sz="1300" dirty="0">
                <a:solidFill>
                  <a:srgbClr val="8B98A8"/>
                </a:solidFill>
                <a:latin typeface="Consolas" pitchFamily="34" charset="0"/>
                <a:ea typeface="Consolas" pitchFamily="34" charset="-122"/>
                <a:cs typeface="Consolas" pitchFamily="34" charset="-120"/>
              </a:rPr>
              <a:t>the Fields step: wider, then a new line, and only then smaller</a:t>
            </a:r>
            <a:endParaRPr lang="en-US" sz="1900" dirty="0"/>
          </a:p>
        </p:txBody>
      </p:sp>
      <p:sp>
        <p:nvSpPr>
          <p:cNvPr id="11" name="Text 9"/>
          <p:cNvSpPr txBox="1"/>
          <p:nvPr/>
        </p:nvSpPr>
        <p:spPr>
          <a:xfrm>
            <a:off x="640080" y="4361688"/>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04</a:t>
            </a:r>
            <a:endParaRPr lang="en-US" sz="1400" dirty="0"/>
          </a:p>
        </p:txBody>
      </p:sp>
      <p:sp>
        <p:nvSpPr>
          <p:cNvPr id="12" name="Text 10"/>
          <p:cNvSpPr txBox="1"/>
          <p:nvPr/>
        </p:nvSpPr>
        <p:spPr>
          <a:xfrm>
            <a:off x="1143000" y="4315968"/>
            <a:ext cx="5897880" cy="868680"/>
          </a:xfrm>
          <a:prstGeom prst="rect">
            <a:avLst/>
          </a:prstGeom>
          <a:noFill/>
          <a:ln/>
        </p:spPr>
        <p:txBody>
          <a:bodyPr wrap="square" lIns="0" tIns="0" rIns="0" bIns="0" rtlCol="0" anchor="t"/>
          <a:lstStyle/>
          <a:p>
            <a:pPr indent="0" marL="0">
              <a:spcAft>
                <a:spcPts val="400"/>
              </a:spcAft>
              <a:buNone/>
            </a:pPr>
            <a:r>
              <a:rPr lang="en-US" sz="1900" dirty="0">
                <a:solidFill>
                  <a:srgbClr val="E8EDF2"/>
                </a:solidFill>
                <a:latin typeface="Arial" pitchFamily="34" charset="0"/>
                <a:ea typeface="Arial" pitchFamily="34" charset="-122"/>
                <a:cs typeface="Arial" pitchFamily="34" charset="-120"/>
              </a:rPr>
              <a:t>Pick what it does. The quiz board locks and reveals; the scorebug counts.</a:t>
            </a:r>
            <a:endParaRPr lang="en-US" sz="1900" dirty="0"/>
          </a:p>
          <a:p>
            <a:pPr indent="0" marL="0">
              <a:buNone/>
            </a:pPr>
            <a:r>
              <a:rPr lang="en-US" sz="1300" dirty="0">
                <a:solidFill>
                  <a:srgbClr val="8B98A8"/>
                </a:solidFill>
                <a:latin typeface="Consolas" pitchFamily="34" charset="0"/>
                <a:ea typeface="Consolas" pitchFamily="34" charset="-122"/>
                <a:cs typeface="Consolas" pitchFamily="34" charset="-120"/>
              </a:rPr>
              <a:t>the Fields step  &gt;  Behaviour</a:t>
            </a:r>
            <a:endParaRPr lang="en-US" sz="1900" dirty="0"/>
          </a:p>
        </p:txBody>
      </p:sp>
      <p:sp>
        <p:nvSpPr>
          <p:cNvPr id="13" name="Text 11"/>
          <p:cNvSpPr txBox="1"/>
          <p:nvPr/>
        </p:nvSpPr>
        <p:spPr>
          <a:xfrm>
            <a:off x="640080" y="5221224"/>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05</a:t>
            </a:r>
            <a:endParaRPr lang="en-US" sz="1400" dirty="0"/>
          </a:p>
        </p:txBody>
      </p:sp>
      <p:sp>
        <p:nvSpPr>
          <p:cNvPr id="14" name="Text 12"/>
          <p:cNvSpPr txBox="1"/>
          <p:nvPr/>
        </p:nvSpPr>
        <p:spPr>
          <a:xfrm>
            <a:off x="1143000" y="5175504"/>
            <a:ext cx="5897880" cy="868680"/>
          </a:xfrm>
          <a:prstGeom prst="rect">
            <a:avLst/>
          </a:prstGeom>
          <a:noFill/>
          <a:ln/>
        </p:spPr>
        <p:txBody>
          <a:bodyPr wrap="square" lIns="0" tIns="0" rIns="0" bIns="0" rtlCol="0" anchor="t"/>
          <a:lstStyle/>
          <a:p>
            <a:pPr indent="0" marL="0">
              <a:spcAft>
                <a:spcPts val="400"/>
              </a:spcAft>
              <a:buNone/>
            </a:pPr>
            <a:r>
              <a:rPr lang="en-US" sz="1900" dirty="0">
                <a:solidFill>
                  <a:srgbClr val="E8EDF2"/>
                </a:solidFill>
                <a:latin typeface="Arial" pitchFamily="34" charset="0"/>
                <a:ea typeface="Arial" pitchFamily="34" charset="-122"/>
                <a:cs typeface="Arial" pitchFamily="34" charset="-120"/>
              </a:rPr>
              <a:t>Finish: name it, then take the production door. It saves the graphic and puts it in a show.</a:t>
            </a:r>
            <a:endParaRPr lang="en-US" sz="1900" dirty="0"/>
          </a:p>
          <a:p>
            <a:pPr indent="0" marL="0">
              <a:buNone/>
            </a:pPr>
            <a:r>
              <a:rPr lang="en-US" sz="1300" dirty="0">
                <a:solidFill>
                  <a:srgbClr val="8B98A8"/>
                </a:solidFill>
                <a:latin typeface="Consolas" pitchFamily="34" charset="0"/>
                <a:ea typeface="Consolas" pitchFamily="34" charset="-122"/>
                <a:cs typeface="Consolas" pitchFamily="34" charset="-120"/>
              </a:rPr>
              <a:t>the Finish step  &gt;  Add to the production</a:t>
            </a:r>
            <a:endParaRPr lang="en-US" sz="1900" dirty="0"/>
          </a:p>
        </p:txBody>
      </p:sp>
      <p:sp>
        <p:nvSpPr>
          <p:cNvPr id="15" name="Shape 13"/>
          <p:cNvSpPr/>
          <p:nvPr/>
        </p:nvSpPr>
        <p:spPr>
          <a:xfrm>
            <a:off x="7406640" y="1737360"/>
            <a:ext cx="4144975" cy="1828800"/>
          </a:xfrm>
          <a:prstGeom prst="roundRect">
            <a:avLst>
              <a:gd name="adj" fmla="val 5000"/>
            </a:avLst>
          </a:prstGeom>
          <a:solidFill>
            <a:srgbClr val="141922"/>
          </a:solidFill>
          <a:ln/>
        </p:spPr>
      </p:sp>
      <p:sp>
        <p:nvSpPr>
          <p:cNvPr id="16" name="Text 14"/>
          <p:cNvSpPr txBox="1"/>
          <p:nvPr/>
        </p:nvSpPr>
        <p:spPr>
          <a:xfrm>
            <a:off x="7607808" y="1938528"/>
            <a:ext cx="3742639"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THE TAKE-HOME  ·  25 MIN IN GROUPS</a:t>
            </a:r>
            <a:endParaRPr lang="en-US" sz="1100" dirty="0"/>
          </a:p>
        </p:txBody>
      </p:sp>
      <p:sp>
        <p:nvSpPr>
          <p:cNvPr id="17" name="Text 15"/>
          <p:cNvSpPr txBox="1"/>
          <p:nvPr/>
        </p:nvSpPr>
        <p:spPr>
          <a:xfrm>
            <a:off x="7607808" y="2231136"/>
            <a:ext cx="3742639" cy="1051560"/>
          </a:xfrm>
          <a:prstGeom prst="rect">
            <a:avLst/>
          </a:prstGeom>
          <a:noFill/>
          <a:ln/>
        </p:spPr>
        <p:txBody>
          <a:bodyPr wrap="square" lIns="0" tIns="0" rIns="0" bIns="0" rtlCol="0" anchor="t"/>
          <a:lstStyle/>
          <a:p>
            <a:pPr indent="0" marL="0">
              <a:lnSpc>
                <a:spcPct val="115000"/>
              </a:lnSpc>
              <a:buNone/>
            </a:pPr>
            <a:r>
              <a:rPr lang="en-US" sz="1400" dirty="0">
                <a:solidFill>
                  <a:srgbClr val="C6CCD6"/>
                </a:solidFill>
                <a:latin typeface="Arial" pitchFamily="34" charset="0"/>
                <a:ea typeface="Arial" pitchFamily="34" charset="-122"/>
                <a:cs typeface="Arial" pitchFamily="34" charset="-120"/>
              </a:rPr>
              <a:t>Small groups, in Illustrator: </a:t>
            </a:r>
            <a:pPr indent="0" marL="0">
              <a:lnSpc>
                <a:spcPct val="115000"/>
              </a:lnSpc>
              <a:buNone/>
            </a:pPr>
            <a:r>
              <a:rPr lang="en-US" sz="1400" b="1" dirty="0">
                <a:solidFill>
                  <a:srgbClr val="E8EDF2"/>
                </a:solidFill>
                <a:latin typeface="Arial" pitchFamily="34" charset="0"/>
                <a:ea typeface="Arial" pitchFamily="34" charset="-122"/>
                <a:cs typeface="Arial" pitchFamily="34" charset="-120"/>
              </a:rPr>
              <a:t>a lower-third quiz template</a:t>
            </a:r>
            <a:pPr indent="0" marL="0">
              <a:lnSpc>
                <a:spcPct val="115000"/>
              </a:lnSpc>
              <a:buNone/>
            </a:pPr>
            <a:r>
              <a:rPr lang="en-US" sz="1400" dirty="0">
                <a:solidFill>
                  <a:srgbClr val="C6CCD6"/>
                </a:solidFill>
                <a:latin typeface="Arial" pitchFamily="34" charset="0"/>
                <a:ea typeface="Arial" pitchFamily="34" charset="-122"/>
                <a:cs typeface="Arial" pitchFamily="34" charset="-120"/>
              </a:rPr>
              <a:t> and </a:t>
            </a:r>
            <a:pPr indent="0" marL="0">
              <a:lnSpc>
                <a:spcPct val="115000"/>
              </a:lnSpc>
              <a:buNone/>
            </a:pPr>
            <a:r>
              <a:rPr lang="en-US" sz="1400" b="1" dirty="0">
                <a:solidFill>
                  <a:srgbClr val="E8EDF2"/>
                </a:solidFill>
                <a:latin typeface="Arial" pitchFamily="34" charset="0"/>
                <a:ea typeface="Arial" pitchFamily="34" charset="-122"/>
                <a:cs typeface="Arial" pitchFamily="34" charset="-120"/>
              </a:rPr>
              <a:t>a scoreboard</a:t>
            </a:r>
            <a:pPr indent="0" marL="0">
              <a:lnSpc>
                <a:spcPct val="115000"/>
              </a:lnSpc>
              <a:buNone/>
            </a:pPr>
            <a:r>
              <a:rPr lang="en-US" sz="1400" dirty="0">
                <a:solidFill>
                  <a:srgbClr val="C6CCD6"/>
                </a:solidFill>
                <a:latin typeface="Arial" pitchFamily="34" charset="0"/>
                <a:ea typeface="Arial" pitchFamily="34" charset="-122"/>
                <a:cs typeface="Arial" pitchFamily="34" charset="-120"/>
              </a:rPr>
              <a:t>. Started here, finished in your own time, sent in.</a:t>
            </a:r>
            <a:endParaRPr lang="en-US" sz="1400" dirty="0"/>
          </a:p>
        </p:txBody>
      </p:sp>
      <p:sp>
        <p:nvSpPr>
          <p:cNvPr id="18" name="Text 16"/>
          <p:cNvSpPr txBox="1"/>
          <p:nvPr/>
        </p:nvSpPr>
        <p:spPr>
          <a:xfrm>
            <a:off x="7607808" y="3154680"/>
            <a:ext cx="3742639" cy="228600"/>
          </a:xfrm>
          <a:prstGeom prst="rect">
            <a:avLst/>
          </a:prstGeom>
          <a:noFill/>
          <a:ln/>
        </p:spPr>
        <p:txBody>
          <a:bodyPr wrap="square" lIns="0" tIns="0" rIns="0" bIns="0" rtlCol="0" anchor="t"/>
          <a:lstStyle/>
          <a:p>
            <a:pPr indent="0" marL="0">
              <a:buNone/>
            </a:pPr>
            <a:r>
              <a:rPr lang="en-US" sz="1200" dirty="0">
                <a:solidFill>
                  <a:srgbClr val="8B98A8"/>
                </a:solidFill>
                <a:latin typeface="Consolas" pitchFamily="34" charset="0"/>
                <a:ea typeface="Consolas" pitchFamily="34" charset="-122"/>
                <a:cs typeface="Consolas" pitchFamily="34" charset="-120"/>
              </a:rPr>
              <a:t>/docs#svg-rules  ·  /docs#svg-export</a:t>
            </a:r>
            <a:endParaRPr lang="en-US" sz="1200" dirty="0"/>
          </a:p>
        </p:txBody>
      </p:sp>
      <p:sp>
        <p:nvSpPr>
          <p:cNvPr id="19" name="Shape 17"/>
          <p:cNvSpPr/>
          <p:nvPr/>
        </p:nvSpPr>
        <p:spPr>
          <a:xfrm>
            <a:off x="7406640" y="3749040"/>
            <a:ext cx="4144975" cy="2286000"/>
          </a:xfrm>
          <a:prstGeom prst="roundRect">
            <a:avLst>
              <a:gd name="adj" fmla="val 4000"/>
            </a:avLst>
          </a:prstGeom>
          <a:solidFill>
            <a:srgbClr val="141922"/>
          </a:solidFill>
          <a:ln/>
        </p:spPr>
      </p:sp>
      <p:sp>
        <p:nvSpPr>
          <p:cNvPr id="20" name="Text 18"/>
          <p:cNvSpPr txBox="1"/>
          <p:nvPr/>
        </p:nvSpPr>
        <p:spPr>
          <a:xfrm>
            <a:off x="7607808" y="3950208"/>
            <a:ext cx="3742639"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SAY IT BEFORE THEY ASK</a:t>
            </a:r>
            <a:endParaRPr lang="en-US" sz="1100" dirty="0"/>
          </a:p>
        </p:txBody>
      </p:sp>
      <p:sp>
        <p:nvSpPr>
          <p:cNvPr id="21" name="Text 19"/>
          <p:cNvSpPr txBox="1"/>
          <p:nvPr/>
        </p:nvSpPr>
        <p:spPr>
          <a:xfrm>
            <a:off x="7607808" y="4242816"/>
            <a:ext cx="3742639" cy="777240"/>
          </a:xfrm>
          <a:prstGeom prst="rect">
            <a:avLst/>
          </a:prstGeom>
          <a:noFill/>
          <a:ln/>
        </p:spPr>
        <p:txBody>
          <a:bodyPr wrap="square" lIns="0" tIns="0" rIns="0" bIns="0" rtlCol="0" anchor="t"/>
          <a:lstStyle/>
          <a:p>
            <a:pPr indent="0" marL="0">
              <a:lnSpc>
                <a:spcPct val="115000"/>
              </a:lnSpc>
              <a:buNone/>
            </a:pPr>
            <a:r>
              <a:rPr lang="en-US" sz="1400" dirty="0">
                <a:solidFill>
                  <a:srgbClr val="C6CCD6"/>
                </a:solidFill>
                <a:latin typeface="Arial" pitchFamily="34" charset="0"/>
                <a:ea typeface="Arial" pitchFamily="34" charset="-122"/>
                <a:cs typeface="Arial" pitchFamily="34" charset="-120"/>
              </a:rPr>
              <a:t>If a long name does not grow the way you meant, the answer is one dropdown on the Fields step: </a:t>
            </a:r>
            <a:pPr indent="0" marL="0">
              <a:lnSpc>
                <a:spcPct val="115000"/>
              </a:lnSpc>
              <a:buNone/>
            </a:pPr>
            <a:r>
              <a:rPr lang="en-US" sz="1400" b="1" dirty="0">
                <a:solidFill>
                  <a:srgbClr val="C6CCD6"/>
                </a:solidFill>
                <a:latin typeface="Arial" pitchFamily="34" charset="0"/>
                <a:ea typeface="Arial" pitchFamily="34" charset="-122"/>
                <a:cs typeface="Arial" pitchFamily="34" charset="-120"/>
              </a:rPr>
              <a:t>When the text is too long</a:t>
            </a:r>
            <a:pPr indent="0" marL="0">
              <a:lnSpc>
                <a:spcPct val="115000"/>
              </a:lnSpc>
              <a:buNone/>
            </a:pPr>
            <a:r>
              <a:rPr lang="en-US" sz="1400" dirty="0">
                <a:solidFill>
                  <a:srgbClr val="C6CCD6"/>
                </a:solidFill>
                <a:latin typeface="Arial" pitchFamily="34" charset="0"/>
                <a:ea typeface="Arial" pitchFamily="34" charset="-122"/>
                <a:cs typeface="Arial" pitchFamily="34" charset="-120"/>
              </a:rPr>
              <a:t>.</a:t>
            </a:r>
            <a:endParaRPr lang="en-US" sz="1400" dirty="0"/>
          </a:p>
        </p:txBody>
      </p:sp>
      <p:sp>
        <p:nvSpPr>
          <p:cNvPr id="22" name="Text 20"/>
          <p:cNvSpPr txBox="1"/>
          <p:nvPr/>
        </p:nvSpPr>
        <p:spPr>
          <a:xfrm>
            <a:off x="7607808" y="5120640"/>
            <a:ext cx="3742639" cy="777240"/>
          </a:xfrm>
          <a:prstGeom prst="rect">
            <a:avLst/>
          </a:prstGeom>
          <a:noFill/>
          <a:ln/>
        </p:spPr>
        <p:txBody>
          <a:bodyPr wrap="square" lIns="0" tIns="0" rIns="0" bIns="0" rtlCol="0" anchor="t"/>
          <a:lstStyle/>
          <a:p>
            <a:pPr indent="0" marL="0">
              <a:lnSpc>
                <a:spcPct val="115000"/>
              </a:lnSpc>
              <a:buNone/>
            </a:pPr>
            <a:r>
              <a:rPr lang="en-US" sz="1400" dirty="0">
                <a:solidFill>
                  <a:srgbClr val="C6CCD6"/>
                </a:solidFill>
                <a:latin typeface="Arial" pitchFamily="34" charset="0"/>
                <a:ea typeface="Arial" pitchFamily="34" charset="-122"/>
                <a:cs typeface="Arial" pitchFamily="34" charset="-120"/>
              </a:rPr>
              <a:t>A typeface Google does not have, or a licensed one, takes the </a:t>
            </a:r>
            <a:pPr indent="0" marL="0">
              <a:lnSpc>
                <a:spcPct val="115000"/>
              </a:lnSpc>
              <a:buNone/>
            </a:pPr>
            <a:r>
              <a:rPr lang="en-US" sz="1400" b="1" dirty="0">
                <a:solidFill>
                  <a:srgbClr val="C6CCD6"/>
                </a:solidFill>
                <a:latin typeface="Arial" pitchFamily="34" charset="0"/>
                <a:ea typeface="Arial" pitchFamily="34" charset="-122"/>
                <a:cs typeface="Arial" pitchFamily="34" charset="-120"/>
              </a:rPr>
              <a:t>upload</a:t>
            </a:r>
            <a:pPr indent="0" marL="0">
              <a:lnSpc>
                <a:spcPct val="115000"/>
              </a:lnSpc>
              <a:buNone/>
            </a:pPr>
            <a:r>
              <a:rPr lang="en-US" sz="1400" dirty="0">
                <a:solidFill>
                  <a:srgbClr val="C6CCD6"/>
                </a:solidFill>
                <a:latin typeface="Arial" pitchFamily="34" charset="0"/>
                <a:ea typeface="Arial" pitchFamily="34" charset="-122"/>
                <a:cs typeface="Arial" pitchFamily="34" charset="-120"/>
              </a:rPr>
              <a:t> road in the Typefaces row, on the Fields step.</a:t>
            </a:r>
            <a:endParaRPr lang="en-US" sz="1400" dirty="0"/>
          </a:p>
        </p:txBody>
      </p:sp>
      <p:sp>
        <p:nvSpPr>
          <p:cNvPr id="23" name="Text 21"/>
          <p:cNvSpPr txBox="1"/>
          <p:nvPr/>
        </p:nvSpPr>
        <p:spPr>
          <a:xfrm>
            <a:off x="640080" y="6172200"/>
            <a:ext cx="9814255" cy="274320"/>
          </a:xfrm>
          <a:prstGeom prst="rect">
            <a:avLst/>
          </a:prstGeom>
          <a:noFill/>
          <a:ln/>
        </p:spPr>
        <p:txBody>
          <a:bodyPr wrap="square" lIns="0" tIns="0" rIns="0" bIns="0" rtlCol="0" anchor="t"/>
          <a:lstStyle/>
          <a:p>
            <a:pPr indent="0" marL="0">
              <a:buNone/>
            </a:pPr>
            <a:r>
              <a:rPr lang="en-US" sz="1400" dirty="0">
                <a:solidFill>
                  <a:srgbClr val="6B7382"/>
                </a:solidFill>
                <a:latin typeface="Arial" pitchFamily="34" charset="0"/>
                <a:ea typeface="Arial" pitchFamily="34" charset="-122"/>
                <a:cs typeface="Arial" pitchFamily="34" charset="-120"/>
              </a:rPr>
              <a:t>The guide, step by step:  </a:t>
            </a:r>
            <a:pPr indent="0" marL="0">
              <a:buNone/>
            </a:pPr>
            <a:r>
              <a:rPr lang="en-US" sz="1400" dirty="0">
                <a:solidFill>
                  <a:srgbClr val="F6A623"/>
                </a:solidFill>
                <a:latin typeface="Consolas" pitchFamily="34" charset="0"/>
                <a:ea typeface="Consolas" pitchFamily="34" charset="-122"/>
                <a:cs typeface="Consolas" pitchFamily="34" charset="-120"/>
              </a:rPr>
              <a:t>noacg.studio/docs#first-graphic</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5 / 7</a:t>
            </a:r>
            <a:endParaRPr lang="en-US" sz="1100" dirty="0"/>
          </a:p>
        </p:txBody>
      </p:sp>
      <p:sp>
        <p:nvSpPr>
          <p:cNvPr id="3" name="Text 1"/>
          <p:cNvSpPr txBox="1"/>
          <p:nvPr/>
        </p:nvSpPr>
        <p:spPr>
          <a:xfrm>
            <a:off x="640080" y="50292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ROAD 2  ·  25 MIN  ·  EVERYONE, THEN THOSE WITH AN AGENT</a:t>
            </a:r>
            <a:endParaRPr lang="en-US" sz="1200" dirty="0"/>
          </a:p>
        </p:txBody>
      </p:sp>
      <p:sp>
        <p:nvSpPr>
          <p:cNvPr id="4" name="Text 2"/>
          <p:cNvSpPr txBox="1"/>
          <p:nvPr/>
        </p:nvSpPr>
        <p:spPr>
          <a:xfrm>
            <a:off x="640080" y="822960"/>
            <a:ext cx="10911535" cy="822960"/>
          </a:xfrm>
          <a:prstGeom prst="rect">
            <a:avLst/>
          </a:prstGeom>
          <a:noFill/>
          <a:ln/>
        </p:spPr>
        <p:txBody>
          <a:bodyPr wrap="square" lIns="0" tIns="0" rIns="0" bIns="0" rtlCol="0" anchor="t"/>
          <a:lstStyle/>
          <a:p>
            <a:pPr indent="0" marL="0">
              <a:buNone/>
            </a:pPr>
            <a:r>
              <a:rPr lang="en-US" sz="4400" b="1" spc="-100" kern="0" dirty="0">
                <a:solidFill>
                  <a:srgbClr val="E8EDF2"/>
                </a:solidFill>
                <a:latin typeface="Arial" pitchFamily="34" charset="0"/>
                <a:ea typeface="Arial" pitchFamily="34" charset="-122"/>
                <a:cs typeface="Arial" pitchFamily="34" charset="-120"/>
              </a:rPr>
              <a:t>Your coding agent</a:t>
            </a:r>
            <a:endParaRPr lang="en-US" sz="4400" dirty="0"/>
          </a:p>
        </p:txBody>
      </p:sp>
      <p:sp>
        <p:nvSpPr>
          <p:cNvPr id="5" name="Text 3"/>
          <p:cNvSpPr txBox="1"/>
          <p:nvPr/>
        </p:nvSpPr>
        <p:spPr>
          <a:xfrm>
            <a:off x="640080" y="1691640"/>
            <a:ext cx="5486400"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EVERYONE, NO AGENT NEEDED</a:t>
            </a:r>
            <a:endParaRPr lang="en-US" sz="1100" dirty="0"/>
          </a:p>
        </p:txBody>
      </p:sp>
      <p:sp>
        <p:nvSpPr>
          <p:cNvPr id="6" name="Shape 4"/>
          <p:cNvSpPr/>
          <p:nvPr/>
        </p:nvSpPr>
        <p:spPr>
          <a:xfrm>
            <a:off x="640080" y="2011680"/>
            <a:ext cx="10911535" cy="1417320"/>
          </a:xfrm>
          <a:prstGeom prst="roundRect">
            <a:avLst>
              <a:gd name="adj" fmla="val 6452"/>
            </a:avLst>
          </a:prstGeom>
          <a:solidFill>
            <a:srgbClr val="0E1014"/>
          </a:solidFill>
          <a:ln w="9525">
            <a:solidFill>
              <a:srgbClr val="262F3C"/>
            </a:solidFill>
            <a:prstDash val="solid"/>
          </a:ln>
        </p:spPr>
      </p:sp>
      <p:sp>
        <p:nvSpPr>
          <p:cNvPr id="7" name="Text 5"/>
          <p:cNvSpPr txBox="1"/>
          <p:nvPr/>
        </p:nvSpPr>
        <p:spPr>
          <a:xfrm>
            <a:off x="914400" y="2212848"/>
            <a:ext cx="10362895" cy="1051560"/>
          </a:xfrm>
          <a:prstGeom prst="rect">
            <a:avLst/>
          </a:prstGeom>
          <a:noFill/>
          <a:ln/>
        </p:spPr>
        <p:txBody>
          <a:bodyPr wrap="square" lIns="0" tIns="0" rIns="0" bIns="0" rtlCol="0" anchor="t"/>
          <a:lstStyle/>
          <a:p>
            <a:pPr indent="0" marL="0">
              <a:lnSpc>
                <a:spcPct val="125000"/>
              </a:lnSpc>
              <a:buNone/>
            </a:pPr>
            <a:r>
              <a:rPr lang="en-US" sz="1400" dirty="0">
                <a:solidFill>
                  <a:srgbClr val="E8EDF2"/>
                </a:solidFill>
                <a:latin typeface="Consolas" pitchFamily="34" charset="0"/>
                <a:ea typeface="Consolas" pitchFamily="34" charset="-122"/>
                <a:cs typeface="Consolas" pitchFamily="34" charset="-120"/>
              </a:rPr>
              <a:t>npx -y @noacg/cli scaffold --type scoreboard --design neutral --out ./sb</a:t>
            </a:r>
            <a:pPr indent="0" marL="0">
              <a:lnSpc>
                <a:spcPct val="125000"/>
              </a:lnSpc>
              <a:buNone/>
            </a:pPr>
            <a:endParaRPr lang="en-US" sz="1400" dirty="0"/>
          </a:p>
          <a:p>
            <a:pPr indent="0" marL="0">
              <a:lnSpc>
                <a:spcPct val="125000"/>
              </a:lnSpc>
              <a:buNone/>
            </a:pPr>
            <a:r>
              <a:rPr lang="en-US" sz="1400" dirty="0">
                <a:solidFill>
                  <a:srgbClr val="E8EDF2"/>
                </a:solidFill>
                <a:latin typeface="Consolas" pitchFamily="34" charset="0"/>
                <a:ea typeface="Consolas" pitchFamily="34" charset="-122"/>
                <a:cs typeface="Consolas" pitchFamily="34" charset="-120"/>
              </a:rPr>
              <a:t>npx -y @noacg/cli validate ./sb --screenshots ./shots</a:t>
            </a:r>
            <a:pPr indent="0" marL="0">
              <a:lnSpc>
                <a:spcPct val="125000"/>
              </a:lnSpc>
              <a:buNone/>
            </a:pPr>
            <a:endParaRPr lang="en-US" sz="1400" dirty="0"/>
          </a:p>
          <a:p>
            <a:pPr indent="0" marL="0">
              <a:lnSpc>
                <a:spcPct val="125000"/>
              </a:lnSpc>
              <a:buNone/>
            </a:pPr>
            <a:r>
              <a:rPr lang="en-US" sz="1400" dirty="0">
                <a:solidFill>
                  <a:srgbClr val="E8EDF2"/>
                </a:solidFill>
                <a:latin typeface="Consolas" pitchFamily="34" charset="0"/>
                <a:ea typeface="Consolas" pitchFamily="34" charset="-122"/>
                <a:cs typeface="Consolas" pitchFamily="34" charset="-120"/>
              </a:rPr>
              <a:t>npx -y @noacg/cli login          </a:t>
            </a:r>
            <a:pPr indent="0" marL="0">
              <a:lnSpc>
                <a:spcPct val="125000"/>
              </a:lnSpc>
              <a:buNone/>
            </a:pPr>
            <a:r>
              <a:rPr lang="en-US" sz="1400" dirty="0">
                <a:solidFill>
                  <a:srgbClr val="6B7382"/>
                </a:solidFill>
                <a:latin typeface="Consolas" pitchFamily="34" charset="0"/>
                <a:ea typeface="Consolas" pitchFamily="34" charset="-122"/>
                <a:cs typeface="Consolas" pitchFamily="34" charset="-120"/>
              </a:rPr>
              <a:t># once; a browser asks one question</a:t>
            </a:r>
            <a:pPr indent="0" marL="0">
              <a:lnSpc>
                <a:spcPct val="125000"/>
              </a:lnSpc>
              <a:buNone/>
            </a:pPr>
            <a:endParaRPr lang="en-US" sz="1400" dirty="0"/>
          </a:p>
          <a:p>
            <a:pPr indent="0" marL="0">
              <a:lnSpc>
                <a:spcPct val="125000"/>
              </a:lnSpc>
              <a:buNone/>
            </a:pPr>
            <a:r>
              <a:rPr lang="en-US" sz="1400" dirty="0">
                <a:solidFill>
                  <a:srgbClr val="E8EDF2"/>
                </a:solidFill>
                <a:latin typeface="Consolas" pitchFamily="34" charset="0"/>
                <a:ea typeface="Consolas" pitchFamily="34" charset="-122"/>
                <a:cs typeface="Consolas" pitchFamily="34" charset="-120"/>
              </a:rPr>
              <a:t>npx -y @noacg/cli save ./sb      </a:t>
            </a:r>
            <a:pPr indent="0" marL="0">
              <a:lnSpc>
                <a:spcPct val="125000"/>
              </a:lnSpc>
              <a:buNone/>
            </a:pPr>
            <a:r>
              <a:rPr lang="en-US" sz="1400" dirty="0">
                <a:solidFill>
                  <a:srgbClr val="6B7382"/>
                </a:solidFill>
                <a:latin typeface="Consolas" pitchFamily="34" charset="0"/>
                <a:ea typeface="Consolas" pitchFamily="34" charset="-122"/>
                <a:cs typeface="Consolas" pitchFamily="34" charset="-120"/>
              </a:rPr>
              <a:t># prints a link that opens at once</a:t>
            </a:r>
            <a:endParaRPr lang="en-US" sz="1400" dirty="0"/>
          </a:p>
        </p:txBody>
      </p:sp>
      <p:sp>
        <p:nvSpPr>
          <p:cNvPr id="8" name="Text 6"/>
          <p:cNvSpPr txBox="1"/>
          <p:nvPr/>
        </p:nvSpPr>
        <p:spPr>
          <a:xfrm>
            <a:off x="640080" y="3657600"/>
            <a:ext cx="4937760" cy="868680"/>
          </a:xfrm>
          <a:prstGeom prst="rect">
            <a:avLst/>
          </a:prstGeom>
          <a:noFill/>
          <a:ln/>
        </p:spPr>
        <p:txBody>
          <a:bodyPr wrap="square" lIns="0" tIns="0" rIns="0" bIns="0" rtlCol="0" anchor="t"/>
          <a:lstStyle/>
          <a:p>
            <a:pPr indent="0" marL="0">
              <a:buNone/>
            </a:pPr>
            <a:r>
              <a:rPr lang="en-US" sz="6000" b="1" spc="-200" kern="0" dirty="0">
                <a:solidFill>
                  <a:srgbClr val="F6A623"/>
                </a:solidFill>
                <a:latin typeface="Arial" pitchFamily="34" charset="0"/>
                <a:ea typeface="Arial" pitchFamily="34" charset="-122"/>
                <a:cs typeface="Arial" pitchFamily="34" charset="-120"/>
              </a:rPr>
              <a:t>24.8 s</a:t>
            </a:r>
            <a:endParaRPr lang="en-US" sz="6000" dirty="0"/>
          </a:p>
        </p:txBody>
      </p:sp>
      <p:sp>
        <p:nvSpPr>
          <p:cNvPr id="9" name="Text 7"/>
          <p:cNvSpPr txBox="1"/>
          <p:nvPr/>
        </p:nvSpPr>
        <p:spPr>
          <a:xfrm>
            <a:off x="640080" y="4572000"/>
            <a:ext cx="4937760" cy="1554480"/>
          </a:xfrm>
          <a:prstGeom prst="rect">
            <a:avLst/>
          </a:prstGeom>
          <a:noFill/>
          <a:ln/>
        </p:spPr>
        <p:txBody>
          <a:bodyPr wrap="square" lIns="0" tIns="0" rIns="0" bIns="0" rtlCol="0" anchor="t"/>
          <a:lstStyle/>
          <a:p>
            <a:pPr indent="0" marL="0">
              <a:lnSpc>
                <a:spcPct val="120000"/>
              </a:lnSpc>
              <a:buNone/>
            </a:pPr>
            <a:r>
              <a:rPr lang="en-US" sz="1450" b="1" dirty="0">
                <a:solidFill>
                  <a:srgbClr val="E8EDF2"/>
                </a:solidFill>
                <a:latin typeface="Arial" pitchFamily="34" charset="0"/>
                <a:ea typeface="Arial" pitchFamily="34" charset="-122"/>
                <a:cs typeface="Arial" pitchFamily="34" charset="-120"/>
              </a:rPr>
              <a:t>Tool time for the seven CLI verbs</a:t>
            </a:r>
            <a:pPr indent="0" marL="0">
              <a:lnSpc>
                <a:spcPct val="120000"/>
              </a:lnSpc>
              <a:buNone/>
            </a:pPr>
            <a:r>
              <a:rPr lang="en-US" sz="1450" dirty="0">
                <a:solidFill>
                  <a:srgbClr val="C6CCD6"/>
                </a:solidFill>
                <a:latin typeface="Arial" pitchFamily="34" charset="0"/>
                <a:ea typeface="Arial" pitchFamily="34" charset="-122"/>
                <a:cs typeface="Arial" pitchFamily="34" charset="-120"/>
              </a:rPr>
              <a:t>, measured by hand on 2026-09-09. They all start a browser to reach the studio; validate is 10.7 s of it because it also runs the gate and writes three full-size frames. The rest of the clock is what the agent spends designing, plus the hop to a player. Nobody has put a stopwatch on that last leg end to end yet, so this is the number there is.</a:t>
            </a:r>
            <a:endParaRPr lang="en-US" sz="1450" dirty="0"/>
          </a:p>
        </p:txBody>
      </p:sp>
      <p:sp>
        <p:nvSpPr>
          <p:cNvPr id="10" name="Text 8"/>
          <p:cNvSpPr txBox="1"/>
          <p:nvPr/>
        </p:nvSpPr>
        <p:spPr>
          <a:xfrm>
            <a:off x="6126480" y="3657600"/>
            <a:ext cx="5425135"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WITH CLAUDE CODE OR CODEX</a:t>
            </a:r>
            <a:endParaRPr lang="en-US" sz="1100" dirty="0"/>
          </a:p>
        </p:txBody>
      </p:sp>
      <p:sp>
        <p:nvSpPr>
          <p:cNvPr id="11" name="Text 9"/>
          <p:cNvSpPr txBox="1"/>
          <p:nvPr/>
        </p:nvSpPr>
        <p:spPr>
          <a:xfrm>
            <a:off x="6126480" y="4069080"/>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01</a:t>
            </a:r>
            <a:endParaRPr lang="en-US" sz="1400" dirty="0"/>
          </a:p>
        </p:txBody>
      </p:sp>
      <p:sp>
        <p:nvSpPr>
          <p:cNvPr id="12" name="Text 10"/>
          <p:cNvSpPr txBox="1"/>
          <p:nvPr/>
        </p:nvSpPr>
        <p:spPr>
          <a:xfrm>
            <a:off x="6629400" y="4023360"/>
            <a:ext cx="4922215" cy="868680"/>
          </a:xfrm>
          <a:prstGeom prst="rect">
            <a:avLst/>
          </a:prstGeom>
          <a:noFill/>
          <a:ln/>
        </p:spPr>
        <p:txBody>
          <a:bodyPr wrap="square" lIns="0" tIns="0" rIns="0" bIns="0" rtlCol="0" anchor="t"/>
          <a:lstStyle/>
          <a:p>
            <a:pPr indent="0" marL="0">
              <a:spcAft>
                <a:spcPts val="400"/>
              </a:spcAft>
              <a:buNone/>
            </a:pPr>
            <a:r>
              <a:rPr lang="en-US" sz="1600" dirty="0">
                <a:solidFill>
                  <a:srgbClr val="E8EDF2"/>
                </a:solidFill>
                <a:latin typeface="Arial" pitchFamily="34" charset="0"/>
                <a:ea typeface="Arial" pitchFamily="34" charset="-122"/>
                <a:cs typeface="Arial" pitchFamily="34" charset="-120"/>
              </a:rPr>
              <a:t>Paste the one prompt. It installs, checks itself, and asks what to make.</a:t>
            </a:r>
            <a:endParaRPr lang="en-US" sz="1600" dirty="0"/>
          </a:p>
          <a:p>
            <a:pPr indent="0" marL="0">
              <a:buNone/>
            </a:pPr>
            <a:r>
              <a:rPr lang="en-US" sz="1300" dirty="0">
                <a:solidFill>
                  <a:srgbClr val="8B98A8"/>
                </a:solidFill>
                <a:latin typeface="Consolas" pitchFamily="34" charset="0"/>
                <a:ea typeface="Consolas" pitchFamily="34" charset="-122"/>
                <a:cs typeface="Consolas" pitchFamily="34" charset="-120"/>
              </a:rPr>
              <a:t>/docs#agent-install</a:t>
            </a:r>
            <a:endParaRPr lang="en-US" sz="1600" dirty="0"/>
          </a:p>
        </p:txBody>
      </p:sp>
      <p:sp>
        <p:nvSpPr>
          <p:cNvPr id="13" name="Text 11"/>
          <p:cNvSpPr txBox="1"/>
          <p:nvPr/>
        </p:nvSpPr>
        <p:spPr>
          <a:xfrm>
            <a:off x="6126480" y="4892040"/>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02</a:t>
            </a:r>
            <a:endParaRPr lang="en-US" sz="1400" dirty="0"/>
          </a:p>
        </p:txBody>
      </p:sp>
      <p:sp>
        <p:nvSpPr>
          <p:cNvPr id="14" name="Text 12"/>
          <p:cNvSpPr txBox="1"/>
          <p:nvPr/>
        </p:nvSpPr>
        <p:spPr>
          <a:xfrm>
            <a:off x="6629400" y="4846320"/>
            <a:ext cx="4922215" cy="868680"/>
          </a:xfrm>
          <a:prstGeom prst="rect">
            <a:avLst/>
          </a:prstGeom>
          <a:noFill/>
          <a:ln/>
        </p:spPr>
        <p:txBody>
          <a:bodyPr wrap="square" lIns="0" tIns="0" rIns="0" bIns="0" rtlCol="0" anchor="t"/>
          <a:lstStyle/>
          <a:p>
            <a:pPr indent="0" marL="0">
              <a:spcAft>
                <a:spcPts val="400"/>
              </a:spcAft>
              <a:buNone/>
            </a:pPr>
            <a:r>
              <a:rPr lang="en-US" sz="1600" dirty="0">
                <a:solidFill>
                  <a:srgbClr val="E8EDF2"/>
                </a:solidFill>
                <a:latin typeface="Arial" pitchFamily="34" charset="0"/>
                <a:ea typeface="Arial" pitchFamily="34" charset="-122"/>
                <a:cs typeface="Arial" pitchFamily="34" charset="-120"/>
              </a:rPr>
              <a:t>Say what you want. "A clean scoreboard for a floorball stream: home, away, period, clock."</a:t>
            </a:r>
            <a:endParaRPr lang="en-US" sz="1600" dirty="0"/>
          </a:p>
        </p:txBody>
      </p:sp>
      <p:sp>
        <p:nvSpPr>
          <p:cNvPr id="15" name="Text 13"/>
          <p:cNvSpPr txBox="1"/>
          <p:nvPr/>
        </p:nvSpPr>
        <p:spPr>
          <a:xfrm>
            <a:off x="6126480" y="5486400"/>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03</a:t>
            </a:r>
            <a:endParaRPr lang="en-US" sz="1400" dirty="0"/>
          </a:p>
        </p:txBody>
      </p:sp>
      <p:sp>
        <p:nvSpPr>
          <p:cNvPr id="16" name="Text 14"/>
          <p:cNvSpPr txBox="1"/>
          <p:nvPr/>
        </p:nvSpPr>
        <p:spPr>
          <a:xfrm>
            <a:off x="6629400" y="5440680"/>
            <a:ext cx="4922215" cy="868680"/>
          </a:xfrm>
          <a:prstGeom prst="rect">
            <a:avLst/>
          </a:prstGeom>
          <a:noFill/>
          <a:ln/>
        </p:spPr>
        <p:txBody>
          <a:bodyPr wrap="square" lIns="0" tIns="0" rIns="0" bIns="0" rtlCol="0" anchor="t"/>
          <a:lstStyle/>
          <a:p>
            <a:pPr indent="0" marL="0">
              <a:spcAft>
                <a:spcPts val="400"/>
              </a:spcAft>
              <a:buNone/>
            </a:pPr>
            <a:r>
              <a:rPr lang="en-US" sz="1600" dirty="0">
                <a:solidFill>
                  <a:srgbClr val="E8EDF2"/>
                </a:solidFill>
                <a:latin typeface="Arial" pitchFamily="34" charset="0"/>
                <a:ea typeface="Arial" pitchFamily="34" charset="-122"/>
                <a:cs typeface="Arial" pitchFamily="34" charset="-120"/>
              </a:rPr>
              <a:t>It authors, validates with screenshots, fixes what the validator reports, and saves.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6 / 7</a:t>
            </a:r>
            <a:endParaRPr lang="en-US" sz="1100" dirty="0"/>
          </a:p>
        </p:txBody>
      </p:sp>
      <p:sp>
        <p:nvSpPr>
          <p:cNvPr id="3" name="Text 1"/>
          <p:cNvSpPr txBox="1"/>
          <p:nvPr/>
        </p:nvSpPr>
        <p:spPr>
          <a:xfrm>
            <a:off x="640080" y="50292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ON AIR  ·  10 MIN  ·  EVERYONE, ON OUR OWN PLAYER</a:t>
            </a:r>
            <a:endParaRPr lang="en-US" sz="1200" dirty="0"/>
          </a:p>
        </p:txBody>
      </p:sp>
      <p:sp>
        <p:nvSpPr>
          <p:cNvPr id="4" name="Text 2"/>
          <p:cNvSpPr txBox="1"/>
          <p:nvPr/>
        </p:nvSpPr>
        <p:spPr>
          <a:xfrm>
            <a:off x="640080" y="822960"/>
            <a:ext cx="10911535" cy="822960"/>
          </a:xfrm>
          <a:prstGeom prst="rect">
            <a:avLst/>
          </a:prstGeom>
          <a:noFill/>
          <a:ln/>
        </p:spPr>
        <p:txBody>
          <a:bodyPr wrap="square" lIns="0" tIns="0" rIns="0" bIns="0" rtlCol="0" anchor="t"/>
          <a:lstStyle/>
          <a:p>
            <a:pPr indent="0" marL="0">
              <a:buNone/>
            </a:pPr>
            <a:r>
              <a:rPr lang="en-US" sz="4400" b="1" spc="-100" kern="0" dirty="0">
                <a:solidFill>
                  <a:srgbClr val="E8EDF2"/>
                </a:solidFill>
                <a:latin typeface="Arial" pitchFamily="34" charset="0"/>
                <a:ea typeface="Arial" pitchFamily="34" charset="-122"/>
                <a:cs typeface="Arial" pitchFamily="34" charset="-120"/>
              </a:rPr>
              <a:t>One production, one URL</a:t>
            </a:r>
            <a:endParaRPr lang="en-US" sz="4400" dirty="0"/>
          </a:p>
        </p:txBody>
      </p:sp>
      <p:sp>
        <p:nvSpPr>
          <p:cNvPr id="5" name="Shape 3"/>
          <p:cNvSpPr/>
          <p:nvPr/>
        </p:nvSpPr>
        <p:spPr>
          <a:xfrm>
            <a:off x="640080" y="1737360"/>
            <a:ext cx="3515258" cy="1463040"/>
          </a:xfrm>
          <a:prstGeom prst="roundRect">
            <a:avLst>
              <a:gd name="adj" fmla="val 6250"/>
            </a:avLst>
          </a:prstGeom>
          <a:solidFill>
            <a:srgbClr val="141922"/>
          </a:solidFill>
          <a:ln/>
        </p:spPr>
      </p:sp>
      <p:sp>
        <p:nvSpPr>
          <p:cNvPr id="6" name="Text 4"/>
          <p:cNvSpPr txBox="1"/>
          <p:nvPr/>
        </p:nvSpPr>
        <p:spPr>
          <a:xfrm>
            <a:off x="896112" y="1993392"/>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01</a:t>
            </a:r>
            <a:endParaRPr lang="en-US" sz="1200" dirty="0"/>
          </a:p>
        </p:txBody>
      </p:sp>
      <p:sp>
        <p:nvSpPr>
          <p:cNvPr id="7" name="Text 5"/>
          <p:cNvSpPr txBox="1"/>
          <p:nvPr/>
        </p:nvSpPr>
        <p:spPr>
          <a:xfrm>
            <a:off x="896112" y="2286000"/>
            <a:ext cx="3003194" cy="886968"/>
          </a:xfrm>
          <a:prstGeom prst="rect">
            <a:avLst/>
          </a:prstGeom>
          <a:noFill/>
          <a:ln/>
        </p:spPr>
        <p:txBody>
          <a:bodyPr wrap="square" lIns="0" tIns="0" rIns="0" bIns="0" rtlCol="0" anchor="t"/>
          <a:lstStyle/>
          <a:p>
            <a:pPr indent="0" marL="0">
              <a:lnSpc>
                <a:spcPct val="115000"/>
              </a:lnSpc>
              <a:buNone/>
            </a:pPr>
            <a:r>
              <a:rPr lang="en-US" sz="1500" dirty="0">
                <a:solidFill>
                  <a:srgbClr val="C6CCD6"/>
                </a:solidFill>
                <a:latin typeface="Arial" pitchFamily="34" charset="0"/>
                <a:ea typeface="Arial" pitchFamily="34" charset="-122"/>
                <a:cs typeface="Arial" pitchFamily="34" charset="-120"/>
              </a:rPr>
              <a:t>Library row  &gt;  </a:t>
            </a:r>
            <a:pPr indent="0" marL="0">
              <a:lnSpc>
                <a:spcPct val="115000"/>
              </a:lnSpc>
              <a:buNone/>
            </a:pPr>
            <a:r>
              <a:rPr lang="en-US" sz="1500" b="1" dirty="0">
                <a:solidFill>
                  <a:srgbClr val="E8EDF2"/>
                </a:solidFill>
                <a:latin typeface="Arial" pitchFamily="34" charset="0"/>
                <a:ea typeface="Arial" pitchFamily="34" charset="-122"/>
                <a:cs typeface="Arial" pitchFamily="34" charset="-120"/>
              </a:rPr>
              <a:t>+ Production</a:t>
            </a:r>
            <a:pPr indent="0" marL="0">
              <a:lnSpc>
                <a:spcPct val="115000"/>
              </a:lnSpc>
              <a:buNone/>
            </a:pPr>
            <a:r>
              <a:rPr lang="en-US" sz="1500" dirty="0">
                <a:solidFill>
                  <a:srgbClr val="C6CCD6"/>
                </a:solidFill>
                <a:latin typeface="Arial" pitchFamily="34" charset="0"/>
                <a:ea typeface="Arial" pitchFamily="34" charset="-122"/>
                <a:cs typeface="Arial" pitchFamily="34" charset="-120"/>
              </a:rPr>
              <a:t>  &gt;  a cue  &gt;  </a:t>
            </a:r>
            <a:pPr indent="0" marL="0">
              <a:lnSpc>
                <a:spcPct val="115000"/>
              </a:lnSpc>
              <a:buNone/>
            </a:pPr>
            <a:r>
              <a:rPr lang="en-US" sz="1500" b="1" dirty="0">
                <a:solidFill>
                  <a:srgbClr val="E8EDF2"/>
                </a:solidFill>
                <a:latin typeface="Arial" pitchFamily="34" charset="0"/>
                <a:ea typeface="Arial" pitchFamily="34" charset="-122"/>
                <a:cs typeface="Arial" pitchFamily="34" charset="-120"/>
              </a:rPr>
              <a:t>Start production</a:t>
            </a:r>
            <a:pPr indent="0" marL="0">
              <a:lnSpc>
                <a:spcPct val="115000"/>
              </a:lnSpc>
              <a:buNone/>
            </a:pPr>
            <a:r>
              <a:rPr lang="en-US" sz="1500" dirty="0">
                <a:solidFill>
                  <a:srgbClr val="C6CCD6"/>
                </a:solidFill>
                <a:latin typeface="Arial" pitchFamily="34" charset="0"/>
                <a:ea typeface="Arial" pitchFamily="34" charset="-122"/>
                <a:cs typeface="Arial" pitchFamily="34" charset="-120"/>
              </a:rPr>
              <a:t>.</a:t>
            </a:r>
            <a:endParaRPr lang="en-US" sz="1500" dirty="0"/>
          </a:p>
        </p:txBody>
      </p:sp>
      <p:sp>
        <p:nvSpPr>
          <p:cNvPr id="8" name="Shape 6"/>
          <p:cNvSpPr/>
          <p:nvPr/>
        </p:nvSpPr>
        <p:spPr>
          <a:xfrm>
            <a:off x="4338218" y="1737360"/>
            <a:ext cx="3515258" cy="1463040"/>
          </a:xfrm>
          <a:prstGeom prst="roundRect">
            <a:avLst>
              <a:gd name="adj" fmla="val 6250"/>
            </a:avLst>
          </a:prstGeom>
          <a:solidFill>
            <a:srgbClr val="141922"/>
          </a:solidFill>
          <a:ln/>
        </p:spPr>
      </p:sp>
      <p:sp>
        <p:nvSpPr>
          <p:cNvPr id="9" name="Text 7"/>
          <p:cNvSpPr txBox="1"/>
          <p:nvPr/>
        </p:nvSpPr>
        <p:spPr>
          <a:xfrm>
            <a:off x="4594250" y="1993392"/>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02</a:t>
            </a:r>
            <a:endParaRPr lang="en-US" sz="1200" dirty="0"/>
          </a:p>
        </p:txBody>
      </p:sp>
      <p:sp>
        <p:nvSpPr>
          <p:cNvPr id="10" name="Text 8"/>
          <p:cNvSpPr txBox="1"/>
          <p:nvPr/>
        </p:nvSpPr>
        <p:spPr>
          <a:xfrm>
            <a:off x="4594250" y="2286000"/>
            <a:ext cx="3003194" cy="886968"/>
          </a:xfrm>
          <a:prstGeom prst="rect">
            <a:avLst/>
          </a:prstGeom>
          <a:noFill/>
          <a:ln/>
        </p:spPr>
        <p:txBody>
          <a:bodyPr wrap="square" lIns="0" tIns="0" rIns="0" bIns="0" rtlCol="0" anchor="t"/>
          <a:lstStyle/>
          <a:p>
            <a:pPr indent="0" marL="0">
              <a:lnSpc>
                <a:spcPct val="115000"/>
              </a:lnSpc>
              <a:buNone/>
            </a:pPr>
            <a:r>
              <a:rPr lang="en-US" sz="1500" dirty="0">
                <a:solidFill>
                  <a:srgbClr val="C6CCD6"/>
                </a:solidFill>
                <a:latin typeface="Arial" pitchFamily="34" charset="0"/>
                <a:ea typeface="Arial" pitchFamily="34" charset="-122"/>
                <a:cs typeface="Arial" pitchFamily="34" charset="-120"/>
              </a:rPr>
              <a:t>Two links appear behind </a:t>
            </a:r>
            <a:pPr indent="0" marL="0">
              <a:lnSpc>
                <a:spcPct val="115000"/>
              </a:lnSpc>
              <a:buNone/>
            </a:pPr>
            <a:r>
              <a:rPr lang="en-US" sz="1500" b="1" dirty="0">
                <a:solidFill>
                  <a:srgbClr val="E8EDF2"/>
                </a:solidFill>
                <a:latin typeface="Arial" pitchFamily="34" charset="0"/>
                <a:ea typeface="Arial" pitchFamily="34" charset="-122"/>
                <a:cs typeface="Arial" pitchFamily="34" charset="-120"/>
              </a:rPr>
              <a:t>Links</a:t>
            </a:r>
            <a:pPr indent="0" marL="0">
              <a:lnSpc>
                <a:spcPct val="115000"/>
              </a:lnSpc>
              <a:buNone/>
            </a:pPr>
            <a:r>
              <a:rPr lang="en-US" sz="1500" dirty="0">
                <a:solidFill>
                  <a:srgbClr val="C6CCD6"/>
                </a:solidFill>
                <a:latin typeface="Arial" pitchFamily="34" charset="0"/>
                <a:ea typeface="Arial" pitchFamily="34" charset="-122"/>
                <a:cs typeface="Arial" pitchFamily="34" charset="-120"/>
              </a:rPr>
              <a:t>: the output URL and the control URL.</a:t>
            </a:r>
            <a:endParaRPr lang="en-US" sz="1500" dirty="0"/>
          </a:p>
        </p:txBody>
      </p:sp>
      <p:sp>
        <p:nvSpPr>
          <p:cNvPr id="11" name="Shape 9"/>
          <p:cNvSpPr/>
          <p:nvPr/>
        </p:nvSpPr>
        <p:spPr>
          <a:xfrm>
            <a:off x="8036357" y="1737360"/>
            <a:ext cx="3515258" cy="1463040"/>
          </a:xfrm>
          <a:prstGeom prst="roundRect">
            <a:avLst>
              <a:gd name="adj" fmla="val 6250"/>
            </a:avLst>
          </a:prstGeom>
          <a:solidFill>
            <a:srgbClr val="141922"/>
          </a:solidFill>
          <a:ln/>
        </p:spPr>
      </p:sp>
      <p:sp>
        <p:nvSpPr>
          <p:cNvPr id="12" name="Text 10"/>
          <p:cNvSpPr txBox="1"/>
          <p:nvPr/>
        </p:nvSpPr>
        <p:spPr>
          <a:xfrm>
            <a:off x="8292389" y="1993392"/>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03</a:t>
            </a:r>
            <a:endParaRPr lang="en-US" sz="1200" dirty="0"/>
          </a:p>
        </p:txBody>
      </p:sp>
      <p:sp>
        <p:nvSpPr>
          <p:cNvPr id="13" name="Text 11"/>
          <p:cNvSpPr txBox="1"/>
          <p:nvPr/>
        </p:nvSpPr>
        <p:spPr>
          <a:xfrm>
            <a:off x="8292389" y="2286000"/>
            <a:ext cx="3003194" cy="886968"/>
          </a:xfrm>
          <a:prstGeom prst="rect">
            <a:avLst/>
          </a:prstGeom>
          <a:noFill/>
          <a:ln/>
        </p:spPr>
        <p:txBody>
          <a:bodyPr wrap="square" lIns="0" tIns="0" rIns="0" bIns="0" rtlCol="0" anchor="t"/>
          <a:lstStyle/>
          <a:p>
            <a:pPr indent="0" marL="0">
              <a:lnSpc>
                <a:spcPct val="115000"/>
              </a:lnSpc>
              <a:buNone/>
            </a:pPr>
            <a:r>
              <a:rPr lang="en-US" sz="1500" b="1" dirty="0">
                <a:solidFill>
                  <a:srgbClr val="E8EDF2"/>
                </a:solidFill>
                <a:latin typeface="Arial" pitchFamily="34" charset="0"/>
                <a:ea typeface="Arial" pitchFamily="34" charset="-122"/>
                <a:cs typeface="Arial" pitchFamily="34" charset="-120"/>
              </a:rPr>
              <a:t>Take. Update. Out.</a:t>
            </a:r>
            <a:pPr indent="0" marL="0">
              <a:lnSpc>
                <a:spcPct val="115000"/>
              </a:lnSpc>
              <a:buNone/>
            </a:pPr>
            <a:r>
              <a:rPr lang="en-US" sz="1500" dirty="0">
                <a:solidFill>
                  <a:srgbClr val="C6CCD6"/>
                </a:solidFill>
                <a:latin typeface="Arial" pitchFamily="34" charset="0"/>
                <a:ea typeface="Arial" pitchFamily="34" charset="-122"/>
                <a:cs typeface="Arial" pitchFamily="34" charset="-120"/>
              </a:rPr>
              <a:t> Hand the control link to a phone and it is a second operator.</a:t>
            </a:r>
            <a:endParaRPr lang="en-US" sz="1500" dirty="0"/>
          </a:p>
        </p:txBody>
      </p:sp>
      <p:sp>
        <p:nvSpPr>
          <p:cNvPr id="14" name="Shape 12"/>
          <p:cNvSpPr/>
          <p:nvPr/>
        </p:nvSpPr>
        <p:spPr>
          <a:xfrm>
            <a:off x="640080" y="3383280"/>
            <a:ext cx="7589520" cy="2606040"/>
          </a:xfrm>
          <a:prstGeom prst="roundRect">
            <a:avLst>
              <a:gd name="adj" fmla="val 3509"/>
            </a:avLst>
          </a:prstGeom>
          <a:solidFill>
            <a:srgbClr val="141922"/>
          </a:solidFill>
          <a:ln w="19050">
            <a:solidFill>
              <a:srgbClr val="F6A623"/>
            </a:solidFill>
            <a:prstDash val="solid"/>
          </a:ln>
        </p:spPr>
      </p:sp>
      <p:sp>
        <p:nvSpPr>
          <p:cNvPr id="15" name="Text 13"/>
          <p:cNvSpPr txBox="1"/>
          <p:nvPr/>
        </p:nvSpPr>
        <p:spPr>
          <a:xfrm>
            <a:off x="896112" y="3639312"/>
            <a:ext cx="7077456"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TODAY, THIS IS AIR</a:t>
            </a:r>
            <a:endParaRPr lang="en-US" sz="1100" dirty="0"/>
          </a:p>
        </p:txBody>
      </p:sp>
      <p:sp>
        <p:nvSpPr>
          <p:cNvPr id="16" name="Text 14"/>
          <p:cNvSpPr txBox="1"/>
          <p:nvPr/>
        </p:nvSpPr>
        <p:spPr>
          <a:xfrm>
            <a:off x="896112" y="3968496"/>
            <a:ext cx="7077456" cy="365760"/>
          </a:xfrm>
          <a:prstGeom prst="rect">
            <a:avLst/>
          </a:prstGeom>
          <a:noFill/>
          <a:ln/>
        </p:spPr>
        <p:txBody>
          <a:bodyPr wrap="square" lIns="0" tIns="0" rIns="0" bIns="0" rtlCol="0" anchor="t"/>
          <a:lstStyle/>
          <a:p>
            <a:pPr indent="0" marL="0">
              <a:buNone/>
            </a:pPr>
            <a:r>
              <a:rPr lang="en-US" sz="2200" b="1" dirty="0">
                <a:solidFill>
                  <a:srgbClr val="E8EDF2"/>
                </a:solidFill>
                <a:latin typeface="Arial" pitchFamily="34" charset="0"/>
                <a:ea typeface="Arial" pitchFamily="34" charset="-122"/>
                <a:cs typeface="Arial" pitchFamily="34" charset="-120"/>
              </a:rPr>
              <a:t>The output URL is the player.</a:t>
            </a:r>
            <a:endParaRPr lang="en-US" sz="2200" dirty="0"/>
          </a:p>
        </p:txBody>
      </p:sp>
      <p:sp>
        <p:nvSpPr>
          <p:cNvPr id="17" name="Text 15"/>
          <p:cNvSpPr txBox="1"/>
          <p:nvPr/>
        </p:nvSpPr>
        <p:spPr>
          <a:xfrm>
            <a:off x="896112" y="4425696"/>
            <a:ext cx="7077456" cy="1188720"/>
          </a:xfrm>
          <a:prstGeom prst="rect">
            <a:avLst/>
          </a:prstGeom>
          <a:noFill/>
          <a:ln/>
        </p:spPr>
        <p:txBody>
          <a:bodyPr wrap="square" lIns="0" tIns="0" rIns="0" bIns="0" rtlCol="0" anchor="t"/>
          <a:lstStyle/>
          <a:p>
            <a:pPr indent="0" marL="0">
              <a:lnSpc>
                <a:spcPct val="115000"/>
              </a:lnSpc>
              <a:buNone/>
            </a:pPr>
            <a:r>
              <a:rPr lang="en-US" sz="1600" dirty="0">
                <a:solidFill>
                  <a:srgbClr val="C6CCD6"/>
                </a:solidFill>
                <a:latin typeface="Arial" pitchFamily="34" charset="0"/>
                <a:ea typeface="Arial" pitchFamily="34" charset="-122"/>
                <a:cs typeface="Arial" pitchFamily="34" charset="-120"/>
              </a:rPr>
              <a:t>A browser tab on noacg.studio, playing your graphic at full size. Nothing to install, no box to configure, no setting to get right. Take a cue on the dashboard and it is up on the tab in front of the room.</a:t>
            </a:r>
            <a:endParaRPr lang="en-US" sz="1600" dirty="0"/>
          </a:p>
        </p:txBody>
      </p:sp>
      <p:sp>
        <p:nvSpPr>
          <p:cNvPr id="18" name="Text 16"/>
          <p:cNvSpPr txBox="1"/>
          <p:nvPr/>
        </p:nvSpPr>
        <p:spPr>
          <a:xfrm>
            <a:off x="896112" y="5669280"/>
            <a:ext cx="7077456" cy="228600"/>
          </a:xfrm>
          <a:prstGeom prst="rect">
            <a:avLst/>
          </a:prstGeom>
          <a:noFill/>
          <a:ln/>
        </p:spPr>
        <p:txBody>
          <a:bodyPr wrap="square" lIns="0" tIns="0" rIns="0" bIns="0" rtlCol="0" anchor="t"/>
          <a:lstStyle/>
          <a:p>
            <a:pPr indent="0" marL="0">
              <a:buNone/>
            </a:pPr>
            <a:r>
              <a:rPr lang="en-US" sz="1200" dirty="0">
                <a:solidFill>
                  <a:srgbClr val="E8EDF2"/>
                </a:solidFill>
                <a:latin typeface="Consolas" pitchFamily="34" charset="0"/>
                <a:ea typeface="Consolas" pitchFamily="34" charset="-122"/>
                <a:cs typeface="Consolas" pitchFamily="34" charset="-120"/>
              </a:rPr>
              <a:t>/docs#dashboard</a:t>
            </a:r>
            <a:endParaRPr lang="en-US" sz="1200" dirty="0"/>
          </a:p>
        </p:txBody>
      </p:sp>
      <p:sp>
        <p:nvSpPr>
          <p:cNvPr id="19" name="Shape 17"/>
          <p:cNvSpPr/>
          <p:nvPr/>
        </p:nvSpPr>
        <p:spPr>
          <a:xfrm>
            <a:off x="8412480" y="3383280"/>
            <a:ext cx="3139135" cy="2606040"/>
          </a:xfrm>
          <a:prstGeom prst="roundRect">
            <a:avLst>
              <a:gd name="adj" fmla="val 3509"/>
            </a:avLst>
          </a:prstGeom>
          <a:solidFill>
            <a:srgbClr val="141922"/>
          </a:solidFill>
          <a:ln/>
        </p:spPr>
      </p:sp>
      <p:sp>
        <p:nvSpPr>
          <p:cNvPr id="20" name="Text 18"/>
          <p:cNvSpPr txBox="1"/>
          <p:nvPr/>
        </p:nvSpPr>
        <p:spPr>
          <a:xfrm>
            <a:off x="8668512" y="3639312"/>
            <a:ext cx="2627071"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NOT TODAY</a:t>
            </a:r>
            <a:endParaRPr lang="en-US" sz="1100" dirty="0"/>
          </a:p>
        </p:txBody>
      </p:sp>
      <p:sp>
        <p:nvSpPr>
          <p:cNvPr id="21" name="Text 19"/>
          <p:cNvSpPr txBox="1"/>
          <p:nvPr/>
        </p:nvSpPr>
        <p:spPr>
          <a:xfrm>
            <a:off x="8668512" y="3931920"/>
            <a:ext cx="2627071" cy="274320"/>
          </a:xfrm>
          <a:prstGeom prst="rect">
            <a:avLst/>
          </a:prstGeom>
          <a:noFill/>
          <a:ln/>
        </p:spPr>
        <p:txBody>
          <a:bodyPr wrap="square" lIns="0" tIns="0" rIns="0" bIns="0" rtlCol="0" anchor="t"/>
          <a:lstStyle/>
          <a:p>
            <a:pPr indent="0" marL="0">
              <a:buNone/>
            </a:pPr>
            <a:r>
              <a:rPr lang="en-US" sz="1600" b="1" dirty="0">
                <a:solidFill>
                  <a:srgbClr val="E8EDF2"/>
                </a:solidFill>
                <a:latin typeface="Arial" pitchFamily="34" charset="0"/>
                <a:ea typeface="Arial" pitchFamily="34" charset="-122"/>
                <a:cs typeface="Arial" pitchFamily="34" charset="-120"/>
              </a:rPr>
              <a:t>Your own systems, later</a:t>
            </a:r>
            <a:endParaRPr lang="en-US" sz="1600" dirty="0"/>
          </a:p>
        </p:txBody>
      </p:sp>
      <p:sp>
        <p:nvSpPr>
          <p:cNvPr id="22" name="Text 20"/>
          <p:cNvSpPr txBox="1"/>
          <p:nvPr/>
        </p:nvSpPr>
        <p:spPr>
          <a:xfrm>
            <a:off x="8668512" y="4315968"/>
            <a:ext cx="2627071" cy="1188720"/>
          </a:xfrm>
          <a:prstGeom prst="rect">
            <a:avLst/>
          </a:prstGeom>
          <a:noFill/>
          <a:ln/>
        </p:spPr>
        <p:txBody>
          <a:bodyPr wrap="square" lIns="0" tIns="0" rIns="0" bIns="0" rtlCol="0" anchor="t"/>
          <a:lstStyle/>
          <a:p>
            <a:pPr indent="0" marL="0">
              <a:lnSpc>
                <a:spcPct val="115000"/>
              </a:lnSpc>
              <a:buNone/>
            </a:pPr>
            <a:r>
              <a:rPr lang="en-US" sz="1300" dirty="0">
                <a:solidFill>
                  <a:srgbClr val="C6CCD6"/>
                </a:solidFill>
                <a:latin typeface="Arial" pitchFamily="34" charset="0"/>
                <a:ea typeface="Arial" pitchFamily="34" charset="-122"/>
                <a:cs typeface="Arial" pitchFamily="34" charset="-120"/>
              </a:rPr>
              <a:t>OBS, a CasparCG box, an SPX rundown, an OGraf renderer. Each is a package or a URL away. We do them in a studio session, not on a room full of laptops.</a:t>
            </a:r>
            <a:endParaRPr lang="en-US" sz="1300" dirty="0"/>
          </a:p>
        </p:txBody>
      </p:sp>
      <p:sp>
        <p:nvSpPr>
          <p:cNvPr id="23" name="Text 21"/>
          <p:cNvSpPr txBox="1"/>
          <p:nvPr/>
        </p:nvSpPr>
        <p:spPr>
          <a:xfrm>
            <a:off x="8668512" y="5669280"/>
            <a:ext cx="2627071" cy="228600"/>
          </a:xfrm>
          <a:prstGeom prst="rect">
            <a:avLst/>
          </a:prstGeom>
          <a:noFill/>
          <a:ln/>
        </p:spPr>
        <p:txBody>
          <a:bodyPr wrap="square" lIns="0" tIns="0" rIns="0" bIns="0" rtlCol="0" anchor="t"/>
          <a:lstStyle/>
          <a:p>
            <a:pPr indent="0" marL="0">
              <a:buNone/>
            </a:pPr>
            <a:r>
              <a:rPr lang="en-US" sz="1200" dirty="0">
                <a:solidFill>
                  <a:srgbClr val="E8EDF2"/>
                </a:solidFill>
                <a:latin typeface="Consolas" pitchFamily="34" charset="0"/>
                <a:ea typeface="Consolas" pitchFamily="34" charset="-122"/>
                <a:cs typeface="Consolas" pitchFamily="34" charset="-120"/>
              </a:rPr>
              <a:t>/docs#export</a:t>
            </a:r>
            <a:endParaRPr lang="en-US" sz="1200" dirty="0"/>
          </a:p>
        </p:txBody>
      </p:sp>
      <p:sp>
        <p:nvSpPr>
          <p:cNvPr id="24" name="Text 22"/>
          <p:cNvSpPr txBox="1"/>
          <p:nvPr/>
        </p:nvSpPr>
        <p:spPr>
          <a:xfrm>
            <a:off x="640080" y="6172200"/>
            <a:ext cx="9814255" cy="274320"/>
          </a:xfrm>
          <a:prstGeom prst="rect">
            <a:avLst/>
          </a:prstGeom>
          <a:noFill/>
          <a:ln/>
        </p:spPr>
        <p:txBody>
          <a:bodyPr wrap="square" lIns="0" tIns="0" rIns="0" bIns="0" rtlCol="0" anchor="t"/>
          <a:lstStyle/>
          <a:p>
            <a:pPr indent="0" marL="0">
              <a:buNone/>
            </a:pPr>
            <a:r>
              <a:rPr lang="en-US" sz="1400" dirty="0">
                <a:solidFill>
                  <a:srgbClr val="6B7382"/>
                </a:solidFill>
                <a:latin typeface="Arial" pitchFamily="34" charset="0"/>
                <a:ea typeface="Arial" pitchFamily="34" charset="-122"/>
                <a:cs typeface="Arial" pitchFamily="34" charset="-120"/>
              </a:rPr>
              <a:t>Publishing a production needs a free account. Nothing before it does.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7 / 7</a:t>
            </a:r>
            <a:endParaRPr lang="en-US" sz="1100" dirty="0"/>
          </a:p>
        </p:txBody>
      </p:sp>
      <p:sp>
        <p:nvSpPr>
          <p:cNvPr id="3" name="Text 1"/>
          <p:cNvSpPr txBox="1"/>
          <p:nvPr/>
        </p:nvSpPr>
        <p:spPr>
          <a:xfrm>
            <a:off x="640080" y="50292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CLOSE  ·  IN THE SAME 10 MIN</a:t>
            </a:r>
            <a:endParaRPr lang="en-US" sz="1200" dirty="0"/>
          </a:p>
        </p:txBody>
      </p:sp>
      <p:sp>
        <p:nvSpPr>
          <p:cNvPr id="4" name="Text 2"/>
          <p:cNvSpPr txBox="1"/>
          <p:nvPr/>
        </p:nvSpPr>
        <p:spPr>
          <a:xfrm>
            <a:off x="640080" y="822960"/>
            <a:ext cx="10911535" cy="822960"/>
          </a:xfrm>
          <a:prstGeom prst="rect">
            <a:avLst/>
          </a:prstGeom>
          <a:noFill/>
          <a:ln/>
        </p:spPr>
        <p:txBody>
          <a:bodyPr wrap="square" lIns="0" tIns="0" rIns="0" bIns="0" rtlCol="0" anchor="t"/>
          <a:lstStyle/>
          <a:p>
            <a:pPr indent="0" marL="0">
              <a:buNone/>
            </a:pPr>
            <a:r>
              <a:rPr lang="en-US" sz="4400" b="1" spc="-100" kern="0" dirty="0">
                <a:solidFill>
                  <a:srgbClr val="E8EDF2"/>
                </a:solidFill>
                <a:latin typeface="Arial" pitchFamily="34" charset="0"/>
                <a:ea typeface="Arial" pitchFamily="34" charset="-122"/>
                <a:cs typeface="Arial" pitchFamily="34" charset="-120"/>
              </a:rPr>
              <a:t>The guide is the docs page.</a:t>
            </a:r>
            <a:endParaRPr lang="en-US" sz="4400" dirty="0"/>
          </a:p>
        </p:txBody>
      </p:sp>
      <p:sp>
        <p:nvSpPr>
          <p:cNvPr id="5" name="Text 3"/>
          <p:cNvSpPr txBox="1"/>
          <p:nvPr/>
        </p:nvSpPr>
        <p:spPr>
          <a:xfrm>
            <a:off x="640080" y="1755648"/>
            <a:ext cx="5120640" cy="731520"/>
          </a:xfrm>
          <a:prstGeom prst="rect">
            <a:avLst/>
          </a:prstGeom>
          <a:noFill/>
          <a:ln/>
        </p:spPr>
        <p:txBody>
          <a:bodyPr wrap="square" lIns="0" tIns="0" rIns="0" bIns="0" rtlCol="0" anchor="t"/>
          <a:lstStyle/>
          <a:p>
            <a:pPr indent="0" marL="0">
              <a:buNone/>
            </a:pPr>
            <a:r>
              <a:rPr lang="en-US" sz="4000" dirty="0">
                <a:solidFill>
                  <a:srgbClr val="F6A623"/>
                </a:solidFill>
                <a:latin typeface="Consolas" pitchFamily="34" charset="0"/>
                <a:ea typeface="Consolas" pitchFamily="34" charset="-122"/>
                <a:cs typeface="Consolas" pitchFamily="34" charset="-120"/>
              </a:rPr>
              <a:t>noacg.studio/docs</a:t>
            </a:r>
            <a:endParaRPr lang="en-US" sz="4000" dirty="0"/>
          </a:p>
        </p:txBody>
      </p:sp>
      <p:sp>
        <p:nvSpPr>
          <p:cNvPr id="6" name="Shape 4"/>
          <p:cNvSpPr/>
          <p:nvPr/>
        </p:nvSpPr>
        <p:spPr>
          <a:xfrm>
            <a:off x="5943600" y="1664208"/>
            <a:ext cx="5608015" cy="1545336"/>
          </a:xfrm>
          <a:prstGeom prst="roundRect">
            <a:avLst>
              <a:gd name="adj" fmla="val 5917"/>
            </a:avLst>
          </a:prstGeom>
          <a:solidFill>
            <a:srgbClr val="141922"/>
          </a:solidFill>
          <a:ln/>
        </p:spPr>
      </p:sp>
      <p:sp>
        <p:nvSpPr>
          <p:cNvPr id="7" name="Text 5"/>
          <p:cNvSpPr txBox="1"/>
          <p:nvPr/>
        </p:nvSpPr>
        <p:spPr>
          <a:xfrm>
            <a:off x="6144768" y="1865376"/>
            <a:ext cx="5205679"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IN YOUR HAND, AND AFTERWARDS A FILE</a:t>
            </a:r>
            <a:endParaRPr lang="en-US" sz="1100" dirty="0"/>
          </a:p>
        </p:txBody>
      </p:sp>
      <p:sp>
        <p:nvSpPr>
          <p:cNvPr id="8" name="Text 6"/>
          <p:cNvSpPr txBox="1"/>
          <p:nvPr/>
        </p:nvSpPr>
        <p:spPr>
          <a:xfrm>
            <a:off x="6144768" y="2103120"/>
            <a:ext cx="5205679" cy="896112"/>
          </a:xfrm>
          <a:prstGeom prst="rect">
            <a:avLst/>
          </a:prstGeom>
          <a:noFill/>
          <a:ln/>
        </p:spPr>
        <p:txBody>
          <a:bodyPr wrap="square" lIns="0" tIns="0" rIns="0" bIns="0" rtlCol="0" anchor="t"/>
          <a:lstStyle/>
          <a:p>
            <a:pPr indent="0" marL="0">
              <a:spcAft>
                <a:spcPts val="500"/>
              </a:spcAft>
              <a:buNone/>
            </a:pPr>
            <a:r>
              <a:rPr lang="en-US" sz="1400" b="1" dirty="0">
                <a:solidFill>
                  <a:srgbClr val="E8EDF2"/>
                </a:solidFill>
                <a:latin typeface="Arial" pitchFamily="34" charset="0"/>
                <a:ea typeface="Arial" pitchFamily="34" charset="-122"/>
                <a:cs typeface="Arial" pitchFamily="34" charset="-120"/>
              </a:rPr>
              <a:t>For the room</a:t>
            </a:r>
            <a:pPr indent="0" marL="0">
              <a:buNone/>
            </a:pPr>
            <a:r>
              <a:rPr lang="en-US" sz="1400" dirty="0">
                <a:solidFill>
                  <a:srgbClr val="C6CCD6"/>
                </a:solidFill>
                <a:latin typeface="Arial" pitchFamily="34" charset="0"/>
                <a:ea typeface="Arial" pitchFamily="34" charset="-122"/>
                <a:cs typeface="Arial" pitchFamily="34" charset="-120"/>
              </a:rPr>
              <a:t> - the road in order, both URLs, a link into every section below, and the take-home brief.</a:t>
            </a:r>
            <a:endParaRPr lang="en-US" sz="1400" dirty="0"/>
          </a:p>
          <a:p>
            <a:pPr indent="0" marL="0">
              <a:buNone/>
            </a:pPr>
            <a:r>
              <a:rPr lang="en-US" sz="1400" b="1" dirty="0">
                <a:solidFill>
                  <a:srgbClr val="E8EDF2"/>
                </a:solidFill>
                <a:latin typeface="Arial" pitchFamily="34" charset="0"/>
                <a:ea typeface="Arial" pitchFamily="34" charset="-122"/>
                <a:cs typeface="Arial" pitchFamily="34" charset="-120"/>
              </a:rPr>
              <a:t>For whoever runs it</a:t>
            </a:r>
            <a:pPr indent="0" marL="0">
              <a:buNone/>
            </a:pPr>
            <a:r>
              <a:rPr lang="en-US" sz="1400" dirty="0">
                <a:solidFill>
                  <a:srgbClr val="C6CCD6"/>
                </a:solidFill>
                <a:latin typeface="Arial" pitchFamily="34" charset="0"/>
                <a:ea typeface="Arial" pitchFamily="34" charset="-122"/>
                <a:cs typeface="Arial" pitchFamily="34" charset="-120"/>
              </a:rPr>
              <a:t> - the same beats as a running order, who drives each, and the clock.</a:t>
            </a:r>
            <a:endParaRPr lang="en-US" sz="1400" dirty="0"/>
          </a:p>
        </p:txBody>
      </p:sp>
      <p:sp>
        <p:nvSpPr>
          <p:cNvPr id="9" name="Text 7"/>
          <p:cNvSpPr txBox="1"/>
          <p:nvPr/>
        </p:nvSpPr>
        <p:spPr>
          <a:xfrm>
            <a:off x="640080" y="3383280"/>
            <a:ext cx="3454298"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ROAD 1</a:t>
            </a:r>
            <a:endParaRPr lang="en-US" sz="1100" dirty="0"/>
          </a:p>
        </p:txBody>
      </p:sp>
      <p:sp>
        <p:nvSpPr>
          <p:cNvPr id="10" name="Text 8"/>
          <p:cNvSpPr txBox="1"/>
          <p:nvPr/>
        </p:nvSpPr>
        <p:spPr>
          <a:xfrm>
            <a:off x="640080" y="3712464"/>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#first-graphic</a:t>
            </a:r>
            <a:endParaRPr lang="en-US" sz="1800" dirty="0"/>
          </a:p>
        </p:txBody>
      </p:sp>
      <p:sp>
        <p:nvSpPr>
          <p:cNvPr id="11" name="Text 9"/>
          <p:cNvSpPr txBox="1"/>
          <p:nvPr/>
        </p:nvSpPr>
        <p:spPr>
          <a:xfrm>
            <a:off x="640080" y="4023360"/>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the whole road, step by step</a:t>
            </a:r>
            <a:endParaRPr lang="en-US" sz="1400" dirty="0"/>
          </a:p>
        </p:txBody>
      </p:sp>
      <p:sp>
        <p:nvSpPr>
          <p:cNvPr id="12" name="Text 10"/>
          <p:cNvSpPr txBox="1"/>
          <p:nvPr/>
        </p:nvSpPr>
        <p:spPr>
          <a:xfrm>
            <a:off x="640080" y="4315968"/>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#svg</a:t>
            </a:r>
            <a:endParaRPr lang="en-US" sz="1800" dirty="0"/>
          </a:p>
        </p:txBody>
      </p:sp>
      <p:sp>
        <p:nvSpPr>
          <p:cNvPr id="13" name="Text 11"/>
          <p:cNvSpPr txBox="1"/>
          <p:nvPr/>
        </p:nvSpPr>
        <p:spPr>
          <a:xfrm>
            <a:off x="640080" y="4626864"/>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rules, layers, fonts, export</a:t>
            </a:r>
            <a:endParaRPr lang="en-US" sz="1400" dirty="0"/>
          </a:p>
        </p:txBody>
      </p:sp>
      <p:sp>
        <p:nvSpPr>
          <p:cNvPr id="14" name="Text 12"/>
          <p:cNvSpPr txBox="1"/>
          <p:nvPr/>
        </p:nvSpPr>
        <p:spPr>
          <a:xfrm>
            <a:off x="4368698" y="3383280"/>
            <a:ext cx="3454298"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ROAD 2</a:t>
            </a:r>
            <a:endParaRPr lang="en-US" sz="1100" dirty="0"/>
          </a:p>
        </p:txBody>
      </p:sp>
      <p:sp>
        <p:nvSpPr>
          <p:cNvPr id="15" name="Text 13"/>
          <p:cNvSpPr txBox="1"/>
          <p:nvPr/>
        </p:nvSpPr>
        <p:spPr>
          <a:xfrm>
            <a:off x="4368698" y="3712464"/>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#claude-code</a:t>
            </a:r>
            <a:endParaRPr lang="en-US" sz="1800" dirty="0"/>
          </a:p>
        </p:txBody>
      </p:sp>
      <p:sp>
        <p:nvSpPr>
          <p:cNvPr id="16" name="Text 14"/>
          <p:cNvSpPr txBox="1"/>
          <p:nvPr/>
        </p:nvSpPr>
        <p:spPr>
          <a:xfrm>
            <a:off x="4368698" y="4023360"/>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the CLI and both agents</a:t>
            </a:r>
            <a:endParaRPr lang="en-US" sz="1400" dirty="0"/>
          </a:p>
        </p:txBody>
      </p:sp>
      <p:sp>
        <p:nvSpPr>
          <p:cNvPr id="17" name="Text 15"/>
          <p:cNvSpPr txBox="1"/>
          <p:nvPr/>
        </p:nvSpPr>
        <p:spPr>
          <a:xfrm>
            <a:off x="4368698" y="4315968"/>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#agent-install</a:t>
            </a:r>
            <a:endParaRPr lang="en-US" sz="1800" dirty="0"/>
          </a:p>
        </p:txBody>
      </p:sp>
      <p:sp>
        <p:nvSpPr>
          <p:cNvPr id="18" name="Text 16"/>
          <p:cNvSpPr txBox="1"/>
          <p:nvPr/>
        </p:nvSpPr>
        <p:spPr>
          <a:xfrm>
            <a:off x="4368698" y="4626864"/>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the one prompt</a:t>
            </a:r>
            <a:endParaRPr lang="en-US" sz="1400" dirty="0"/>
          </a:p>
        </p:txBody>
      </p:sp>
      <p:sp>
        <p:nvSpPr>
          <p:cNvPr id="19" name="Text 17"/>
          <p:cNvSpPr txBox="1"/>
          <p:nvPr/>
        </p:nvSpPr>
        <p:spPr>
          <a:xfrm>
            <a:off x="8097317" y="3383280"/>
            <a:ext cx="3454298"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ON AIR</a:t>
            </a:r>
            <a:endParaRPr lang="en-US" sz="1100" dirty="0"/>
          </a:p>
        </p:txBody>
      </p:sp>
      <p:sp>
        <p:nvSpPr>
          <p:cNvPr id="20" name="Text 18"/>
          <p:cNvSpPr txBox="1"/>
          <p:nvPr/>
        </p:nvSpPr>
        <p:spPr>
          <a:xfrm>
            <a:off x="8097317" y="3712464"/>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#dashboard</a:t>
            </a:r>
            <a:endParaRPr lang="en-US" sz="1800" dirty="0"/>
          </a:p>
        </p:txBody>
      </p:sp>
      <p:sp>
        <p:nvSpPr>
          <p:cNvPr id="21" name="Text 19"/>
          <p:cNvSpPr txBox="1"/>
          <p:nvPr/>
        </p:nvSpPr>
        <p:spPr>
          <a:xfrm>
            <a:off x="8097317" y="4023360"/>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production, cues, links</a:t>
            </a:r>
            <a:endParaRPr lang="en-US" sz="1400" dirty="0"/>
          </a:p>
        </p:txBody>
      </p:sp>
      <p:sp>
        <p:nvSpPr>
          <p:cNvPr id="22" name="Text 20"/>
          <p:cNvSpPr txBox="1"/>
          <p:nvPr/>
        </p:nvSpPr>
        <p:spPr>
          <a:xfrm>
            <a:off x="8097317" y="4315968"/>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#obs</a:t>
            </a:r>
            <a:endParaRPr lang="en-US" sz="1800" dirty="0"/>
          </a:p>
        </p:txBody>
      </p:sp>
      <p:sp>
        <p:nvSpPr>
          <p:cNvPr id="23" name="Text 21"/>
          <p:cNvSpPr txBox="1"/>
          <p:nvPr/>
        </p:nvSpPr>
        <p:spPr>
          <a:xfrm>
            <a:off x="8097317" y="4626864"/>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the browser source</a:t>
            </a:r>
            <a:endParaRPr lang="en-US" sz="1400" dirty="0"/>
          </a:p>
        </p:txBody>
      </p:sp>
      <p:sp>
        <p:nvSpPr>
          <p:cNvPr id="24" name="Text 22"/>
          <p:cNvSpPr txBox="1"/>
          <p:nvPr/>
        </p:nvSpPr>
        <p:spPr>
          <a:xfrm>
            <a:off x="8097317" y="4919472"/>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#casparcg</a:t>
            </a:r>
            <a:endParaRPr lang="en-US" sz="1800" dirty="0"/>
          </a:p>
        </p:txBody>
      </p:sp>
      <p:sp>
        <p:nvSpPr>
          <p:cNvPr id="25" name="Text 23"/>
          <p:cNvSpPr txBox="1"/>
          <p:nvPr/>
        </p:nvSpPr>
        <p:spPr>
          <a:xfrm>
            <a:off x="8097317" y="5230368"/>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URL, file, versions</a:t>
            </a:r>
            <a:endParaRPr lang="en-US" sz="1400" dirty="0"/>
          </a:p>
        </p:txBody>
      </p:sp>
      <p:sp>
        <p:nvSpPr>
          <p:cNvPr id="26" name="Text 24"/>
          <p:cNvSpPr txBox="1"/>
          <p:nvPr/>
        </p:nvSpPr>
        <p:spPr>
          <a:xfrm>
            <a:off x="8097317" y="5522976"/>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#export</a:t>
            </a:r>
            <a:endParaRPr lang="en-US" sz="1800" dirty="0"/>
          </a:p>
        </p:txBody>
      </p:sp>
      <p:sp>
        <p:nvSpPr>
          <p:cNvPr id="27" name="Text 25"/>
          <p:cNvSpPr txBox="1"/>
          <p:nvPr/>
        </p:nvSpPr>
        <p:spPr>
          <a:xfrm>
            <a:off x="8097317" y="5833872"/>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every package</a:t>
            </a:r>
            <a:endParaRPr lang="en-US" sz="1400" dirty="0"/>
          </a:p>
        </p:txBody>
      </p:sp>
      <p:sp>
        <p:nvSpPr>
          <p:cNvPr id="28" name="Text 26"/>
          <p:cNvSpPr txBox="1"/>
          <p:nvPr/>
        </p:nvSpPr>
        <p:spPr>
          <a:xfrm>
            <a:off x="640080" y="6172200"/>
            <a:ext cx="9814255" cy="274320"/>
          </a:xfrm>
          <a:prstGeom prst="rect">
            <a:avLst/>
          </a:prstGeom>
          <a:noFill/>
          <a:ln/>
        </p:spPr>
        <p:txBody>
          <a:bodyPr wrap="square" lIns="0" tIns="0" rIns="0" bIns="0" rtlCol="0" anchor="t"/>
          <a:lstStyle/>
          <a:p>
            <a:pPr indent="0" marL="0">
              <a:buNone/>
            </a:pPr>
            <a:r>
              <a:rPr lang="en-US" sz="1400" dirty="0">
                <a:solidFill>
                  <a:srgbClr val="6B7382"/>
                </a:solidFill>
                <a:latin typeface="Arial" pitchFamily="34" charset="0"/>
                <a:ea typeface="Arial" pitchFamily="34" charset="-122"/>
                <a:cs typeface="Arial" pitchFamily="34" charset="-120"/>
              </a:rPr>
              <a:t>Free, open source, no account until you publish. Take it home.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NoaCG Studio, 25 September 2026</dc:title>
  <dc:subject>PptxGenJS Presentation</dc:subject>
  <dc:creator>NoaCG Studio</dc:creator>
  <cp:lastModifiedBy>NoaCG Studio</cp:lastModifiedBy>
  <cp:revision>1</cp:revision>
  <dcterms:created xsi:type="dcterms:W3CDTF">2026-09-11T06:27:55Z</dcterms:created>
  <dcterms:modified xsi:type="dcterms:W3CDTF">2026-09-11T06:27:55Z</dcterms:modified>
</cp:coreProperties>
</file>