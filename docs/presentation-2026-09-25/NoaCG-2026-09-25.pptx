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still an open owner item, docs/acceptance/owner-queue/2026-09-09-g-yle-network-diag-screenshot.md. If it has not arrived, the phone hotspot is the plan and you say so in the room. This deck opens from a file and needs no network.
B1: the morning of, check https://noacg.studio/version.json against the tip of main.
THE CLOCK. 10 opening, 30 road 1, 25 road 2, 20 on air, 5 close. A beat that runs long is cut at the next beat's boundary, never stretched.
WHO DRIVES. They do, on their own laptops. We drive the CasparCG box, the OGraf renderer and one agent on the screen.
Source: docs/DEMO_2026-09-25.md §0 (the five calls,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CasparCG Connect through the CLI agent has not been run against real hardware; the exported package has (docs/STUDENT_RELEASE_ACCEPTANCE.md §2).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Source: docs/DEMO_2026-09-25.md §0 calls 2 and 3,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R1.6. Status on 2026-09-09: WORKS on the shipped samples for all six beats, with one exception. R1.4, behaviour on artwork nobody at NoaCG drew, is pinned by e2e/import-svg-behaviour.spec.ts, but you have not looked at your OWN quiz board since the three text-box fixes (docs/TEXT_BOX_BINDING.md). The 12th is that walk.
R1.3 ON THEIR OWN FILE. The growth default is measured off the geometry and for some exporter shapes it disagrees with what the designer meant (docs/backlog/svg-growth-default-across-exporters.md). That is why the dropdown sentence is said out loud rather than waited for.
R1.5. A Yle designer's licensed face takes the upload road; the Google door is offered only where Google has the family.
NOT A BEAT. The live-vote encore needs a fixture brought by hand and has two open backlog items; only if the room is ahead of the clock.
Source: docs/DEMO_2026-09-25.md §3;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IS STILL A GAP IN THE SCRIPT. The measurement stopped at the package's own fallback player. The cloud save and the studio's output URL were not walked: save refused against the dev server (the CLI's key store is per origin) and writing into the live library from an unattended session was not done. Do not say "minutes to air" as a measured claim; the slide's wording is the honest one.
UNSEEN SINCE 2026-08-23. R2.1 against noacg.studio and R2.4 the live save (§7 row 8), and B5 the install lines on a fresh machine, last executed 2026-08-22 for Claude Code and 2026-08-27 for Codex, with the Codex side of the noacg-mcp split not re-verified (§7 row 6). Both are cheap to close before the day.
Source: docs/DEMO_2026-09-25.md §4, §7 rows 4, 6, 8;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A1 WORKS. A2 WORKS except the eyes-on half of the imported quiz over the hosted log (docs/acceptance/IMPORTED_QUIZ_HOSTED_WALK.md step 2), which the 12th is. Status of the four targets on 2026-09-09:
OBS (A3): UNSEEN (box). The route is written and the output page's recovery is pinned, but no written tick exists for the OBS half because §1 of docs/STUDENT_RELEASE_ACCEPTANCE.md has no OBS line. You have done it; on the 12th you write the line and tick it.
CASPARCG WITH THE URL (A4): UNSEEN (box). The output page is compiled down to what 2.3.x runs; unseen on a real box until the 12th ticks the §8.7 line. If it is red there, the file export is the fallback in the same room.
CASPARCG OR SPX WITH A FILE (A5): WORKS, proven on your own server; the CasparCG package has carried an operator page since 2026-09-04.
OGRAF (A7): catalog and agent packages were driven in SuperFly's ograf-server on 2026-08-18 and 2026-08-22 (docs/OGRAF.md). An imported-SVG graphic WITH behaviour has not been driven in an external renderer (§7 row 7), and which renderer Yle runs is asked in the same owner message as the network screenshot.
NOT ON THE SLIDE. A6, CasparCG Connect through the CLI agent: show it only if the 12th proves it on hardware; A4 does the same job by hand. A8, NoaCG driving a production on an OGraf renderer with the renderer in control: not a beat;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§5, §7 rows 2, 3, 7, 10, 11; docs/STUDENT_RELEASE_ACCEPTANCE.md §1,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THE PRINTED ONE-PAGE INDEX, DOES NOT EXIST and is not on this slide (§7 row 12). If the laptop dies, print this deck's notes pages: one slide per page with these notes under it.
Source: docs/DEMO_2026-09-25.md §6, §7 row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w="12700">
            <a:solidFill>
              <a:srgbClr val="F6A623"/>
            </a:solidFill>
            <a:prstDash val="solid"/>
          </a:ln>
        </p:spPr>
      </p:sp>
      <p:sp>
        <p:nvSpPr>
          <p:cNvPr id="4" name="Shape 2"/>
          <p:cNvSpPr/>
          <p:nvPr/>
        </p:nvSpPr>
        <p:spPr>
          <a:xfrm>
            <a:off x="640080" y="960120"/>
            <a:ext cx="482803" cy="182880"/>
          </a:xfrm>
          <a:prstGeom prst="roundRect">
            <a:avLst>
              <a:gd name="adj" fmla="val 20000"/>
            </a:avLst>
          </a:prstGeom>
          <a:solidFill>
            <a:srgbClr val="F6A623"/>
          </a:solidFill>
          <a:ln w="12700">
            <a:solidFill>
              <a:srgbClr val="F6A623"/>
            </a:solidFill>
            <a:prstDash val="solid"/>
          </a:ln>
        </p:spPr>
      </p:sp>
      <p:sp>
        <p:nvSpPr>
          <p:cNvPr id="5" name="Shape 3"/>
          <p:cNvSpPr/>
          <p:nvPr/>
        </p:nvSpPr>
        <p:spPr>
          <a:xfrm>
            <a:off x="640080" y="1234440"/>
            <a:ext cx="292608" cy="182880"/>
          </a:xfrm>
          <a:prstGeom prst="roundRect">
            <a:avLst>
              <a:gd name="adj" fmla="val 20000"/>
            </a:avLst>
          </a:prstGeom>
          <a:solidFill>
            <a:srgbClr val="F6A623"/>
          </a:solidFill>
          <a:ln w="12700">
            <a:solidFill>
              <a:srgbClr val="F6A623"/>
            </a:solidFill>
            <a:prstDash val="solid"/>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91440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Then run it on whatever you already have in the room.</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what needs a playout box or an agent subscription.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w="12700">
            <a:solidFill>
              <a:srgbClr val="141922"/>
            </a:solidFill>
            <a:prstDash val="solid"/>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w="12700">
            <a:solidFill>
              <a:srgbClr val="141922"/>
            </a:solidFill>
            <a:prstDash val="solid"/>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w="12700">
            <a:solidFill>
              <a:srgbClr val="141922"/>
            </a:solidFill>
            <a:prstDash val="solid"/>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w="12700">
            <a:solidFill>
              <a:srgbClr val="141922"/>
            </a:solidFill>
            <a:prstDash val="solid"/>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THE ROOM'S SYSTEMS</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w="12700">
            <a:solidFill>
              <a:srgbClr val="141922"/>
            </a:solidFill>
            <a:prstDash val="solid"/>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w="12700">
            <a:solidFill>
              <a:srgbClr val="141922"/>
            </a:solidFill>
            <a:prstDash val="solid"/>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w="12700">
            <a:solidFill>
              <a:srgbClr val="141922"/>
            </a:solidFill>
            <a:prstDash val="solid"/>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w="12700">
            <a:solidFill>
              <a:srgbClr val="141922"/>
            </a:solidFill>
            <a:prstDash val="solid"/>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The output, live.</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w="12700">
            <a:solidFill>
              <a:srgbClr val="141922"/>
            </a:solidFill>
            <a:prstDash val="solid"/>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w="12700">
            <a:solidFill>
              <a:srgbClr val="141922"/>
            </a:solidFill>
            <a:prstDash val="solid"/>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w="12700">
            <a:solidFill>
              <a:srgbClr val="141922"/>
            </a:solidFill>
            <a:prstDash val="solid"/>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F6A623"/>
            </a:solidFill>
            <a:prstDash val="solid"/>
            <a:tailEnd type="triangle"/>
          </a:ln>
        </p:spPr>
      </p:sp>
      <p:sp>
        <p:nvSpPr>
          <p:cNvPr id="35" name="Shape 33"/>
          <p:cNvSpPr/>
          <p:nvPr/>
        </p:nvSpPr>
        <p:spPr>
          <a:xfrm>
            <a:off x="9921240" y="3543300"/>
            <a:ext cx="457200" cy="0"/>
          </a:xfrm>
          <a:prstGeom prst="line">
            <a:avLst/>
          </a:prstGeom>
          <a:noFill/>
          <a:ln w="19050">
            <a:solidFill>
              <a:srgbClr val="F6A623"/>
            </a:solidFill>
            <a:prstDash val="solid"/>
            <a:tailEnd type="triangle"/>
          </a:ln>
        </p:spPr>
      </p:sp>
      <p:sp>
        <p:nvSpPr>
          <p:cNvPr id="36" name="Shape 34"/>
          <p:cNvSpPr/>
          <p:nvPr/>
        </p:nvSpPr>
        <p:spPr>
          <a:xfrm>
            <a:off x="9921240" y="3543300"/>
            <a:ext cx="457200" cy="1028700"/>
          </a:xfrm>
          <a:prstGeom prst="line">
            <a:avLst/>
          </a:prstGeom>
          <a:noFill/>
          <a:ln w="19050">
            <a:solidFill>
              <a:srgbClr val="F6A623"/>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30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Draw it to the five rules, or take a sample.</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7919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63347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7530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52958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4714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4256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36752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32180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Create, then Finish: add it to a production.</a:t>
            </a:r>
            <a:endParaRPr lang="en-US" sz="1900" dirty="0"/>
          </a:p>
        </p:txBody>
      </p:sp>
      <p:sp>
        <p:nvSpPr>
          <p:cNvPr id="15" name="Shape 13"/>
          <p:cNvSpPr/>
          <p:nvPr/>
        </p:nvSpPr>
        <p:spPr>
          <a:xfrm>
            <a:off x="7406640" y="1737360"/>
            <a:ext cx="4144975" cy="1783080"/>
          </a:xfrm>
          <a:prstGeom prst="roundRect">
            <a:avLst>
              <a:gd name="adj" fmla="val 5128"/>
            </a:avLst>
          </a:prstGeom>
          <a:solidFill>
            <a:srgbClr val="141922"/>
          </a:solidFill>
          <a:ln w="12700">
            <a:solidFill>
              <a:srgbClr val="141922"/>
            </a:solidFill>
            <a:prstDash val="solid"/>
          </a:ln>
        </p:spPr>
      </p:sp>
      <p:sp>
        <p:nvSpPr>
          <p:cNvPr id="16" name="Text 14"/>
          <p:cNvSpPr txBox="1"/>
          <p:nvPr/>
        </p:nvSpPr>
        <p:spPr>
          <a:xfrm>
            <a:off x="7680960" y="201168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17" name="Text 15"/>
          <p:cNvSpPr txBox="1"/>
          <p:nvPr/>
        </p:nvSpPr>
        <p:spPr>
          <a:xfrm>
            <a:off x="7680960" y="2331720"/>
            <a:ext cx="3596335" cy="109728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600" dirty="0">
                <a:solidFill>
                  <a:srgbClr val="C6CCD6"/>
                </a:solidFill>
                <a:latin typeface="Arial" pitchFamily="34" charset="0"/>
                <a:ea typeface="Arial" pitchFamily="34" charset="-122"/>
                <a:cs typeface="Arial" pitchFamily="34" charset="-120"/>
              </a:rPr>
              <a:t>.</a:t>
            </a:r>
            <a:endParaRPr lang="en-US" sz="1600" dirty="0"/>
          </a:p>
        </p:txBody>
      </p:sp>
      <p:sp>
        <p:nvSpPr>
          <p:cNvPr id="18" name="Shape 16"/>
          <p:cNvSpPr/>
          <p:nvPr/>
        </p:nvSpPr>
        <p:spPr>
          <a:xfrm>
            <a:off x="7406640" y="3657600"/>
            <a:ext cx="4144975" cy="1188720"/>
          </a:xfrm>
          <a:prstGeom prst="roundRect">
            <a:avLst>
              <a:gd name="adj" fmla="val 7692"/>
            </a:avLst>
          </a:prstGeom>
          <a:solidFill>
            <a:srgbClr val="141922"/>
          </a:solidFill>
          <a:ln w="12700">
            <a:solidFill>
              <a:srgbClr val="141922"/>
            </a:solidFill>
            <a:prstDash val="solid"/>
          </a:ln>
        </p:spPr>
      </p:sp>
      <p:sp>
        <p:nvSpPr>
          <p:cNvPr id="19" name="Text 17"/>
          <p:cNvSpPr txBox="1"/>
          <p:nvPr/>
        </p:nvSpPr>
        <p:spPr>
          <a:xfrm>
            <a:off x="7680960" y="3931920"/>
            <a:ext cx="3596335" cy="82296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600" dirty="0">
                <a:solidFill>
                  <a:srgbClr val="C6CCD6"/>
                </a:solidFill>
                <a:latin typeface="Arial" pitchFamily="34" charset="0"/>
                <a:ea typeface="Arial" pitchFamily="34" charset="-122"/>
                <a:cs typeface="Arial" pitchFamily="34" charset="-120"/>
              </a:rPr>
              <a:t> road on the last screen before Create.</a:t>
            </a:r>
            <a:endParaRPr lang="en-US" sz="1600" dirty="0"/>
          </a:p>
        </p:txBody>
      </p:sp>
      <p:sp>
        <p:nvSpPr>
          <p:cNvPr id="20" name="Shape 18"/>
          <p:cNvSpPr/>
          <p:nvPr/>
        </p:nvSpPr>
        <p:spPr>
          <a:xfrm>
            <a:off x="7406640" y="4983480"/>
            <a:ext cx="4144975" cy="960120"/>
          </a:xfrm>
          <a:prstGeom prst="roundRect">
            <a:avLst>
              <a:gd name="adj" fmla="val 9524"/>
            </a:avLst>
          </a:prstGeom>
          <a:solidFill>
            <a:srgbClr val="141922"/>
          </a:solidFill>
          <a:ln w="12700">
            <a:solidFill>
              <a:srgbClr val="141922"/>
            </a:solidFill>
            <a:prstDash val="solid"/>
          </a:ln>
        </p:spPr>
      </p:sp>
      <p:sp>
        <p:nvSpPr>
          <p:cNvPr id="21" name="Text 19"/>
          <p:cNvSpPr txBox="1"/>
          <p:nvPr/>
        </p:nvSpPr>
        <p:spPr>
          <a:xfrm>
            <a:off x="7680960" y="525780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GUIDE</a:t>
            </a:r>
            <a:endParaRPr lang="en-US" sz="1100" dirty="0"/>
          </a:p>
        </p:txBody>
      </p:sp>
      <p:sp>
        <p:nvSpPr>
          <p:cNvPr id="22" name="Text 20"/>
          <p:cNvSpPr txBox="1"/>
          <p:nvPr/>
        </p:nvSpPr>
        <p:spPr>
          <a:xfrm>
            <a:off x="7680960" y="5550408"/>
            <a:ext cx="3596335" cy="320040"/>
          </a:xfrm>
          <a:prstGeom prst="rect">
            <a:avLst/>
          </a:prstGeom>
          <a:noFill/>
          <a:ln/>
        </p:spPr>
        <p:txBody>
          <a:bodyPr wrap="square" lIns="0" tIns="0" rIns="0" bIns="0" rtlCol="0" anchor="t"/>
          <a:lstStyle/>
          <a:p>
            <a:pPr indent="0" marL="0">
              <a:buNone/>
            </a:pPr>
            <a:r>
              <a:rPr lang="en-US" sz="1600" dirty="0">
                <a:solidFill>
                  <a:srgbClr val="F6A623"/>
                </a:solidFill>
                <a:latin typeface="Consolas" pitchFamily="34" charset="0"/>
                <a:ea typeface="Consolas" pitchFamily="34" charset="-122"/>
                <a:cs typeface="Consolas" pitchFamily="34" charset="-120"/>
              </a:rPr>
              <a:t>noacg.studio/docs#first-graphic</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a browser asks one question</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prints a link that opens at once</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validate is 10.7 s of it, the only verb that opens a browser. The rest of the clock is what the agent spends designing, plus the hop to a player. Nobody has put a stopwatch on that last leg end to end yet, so this is the number there is.</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20 MIN  ·  YOU DRIVE, THEN THE ROOM'S BOXES</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w="12700">
            <a:solidFill>
              <a:srgbClr val="141922"/>
            </a:solidFill>
            <a:prstDash val="solid"/>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w="12700">
            <a:solidFill>
              <a:srgbClr val="141922"/>
            </a:solidFill>
            <a:prstDash val="solid"/>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w="12700">
            <a:solidFill>
              <a:srgbClr val="141922"/>
            </a:solidFill>
            <a:prstDash val="solid"/>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2590724" cy="2606040"/>
          </a:xfrm>
          <a:prstGeom prst="roundRect">
            <a:avLst>
              <a:gd name="adj" fmla="val 3530"/>
            </a:avLst>
          </a:prstGeom>
          <a:solidFill>
            <a:srgbClr val="141922"/>
          </a:solidFill>
          <a:ln w="12700">
            <a:solidFill>
              <a:srgbClr val="141922"/>
            </a:solidFill>
            <a:prstDash val="solid"/>
          </a:ln>
        </p:spPr>
      </p:sp>
      <p:sp>
        <p:nvSpPr>
          <p:cNvPr id="15" name="Text 13"/>
          <p:cNvSpPr txBox="1"/>
          <p:nvPr/>
        </p:nvSpPr>
        <p:spPr>
          <a:xfrm>
            <a:off x="896112"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EVERYONE</a:t>
            </a:r>
            <a:endParaRPr lang="en-US" sz="1050" dirty="0"/>
          </a:p>
        </p:txBody>
      </p:sp>
      <p:sp>
        <p:nvSpPr>
          <p:cNvPr id="16" name="Text 14"/>
          <p:cNvSpPr txBox="1"/>
          <p:nvPr/>
        </p:nvSpPr>
        <p:spPr>
          <a:xfrm>
            <a:off x="896112"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OBS, on your laptop</a:t>
            </a:r>
            <a:endParaRPr lang="en-US" sz="1800" dirty="0"/>
          </a:p>
        </p:txBody>
      </p:sp>
      <p:sp>
        <p:nvSpPr>
          <p:cNvPr id="17" name="Text 15"/>
          <p:cNvSpPr txBox="1"/>
          <p:nvPr/>
        </p:nvSpPr>
        <p:spPr>
          <a:xfrm>
            <a:off x="896112"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Browser source, the output URL, 1920x1080, your channel's fps.</a:t>
            </a:r>
            <a:endParaRPr lang="en-US" sz="1400" dirty="0"/>
          </a:p>
        </p:txBody>
      </p:sp>
      <p:sp>
        <p:nvSpPr>
          <p:cNvPr id="18" name="Text 16"/>
          <p:cNvSpPr txBox="1"/>
          <p:nvPr/>
        </p:nvSpPr>
        <p:spPr>
          <a:xfrm>
            <a:off x="896112"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/docs#obs</a:t>
            </a:r>
            <a:endParaRPr lang="en-US" sz="1200" dirty="0"/>
          </a:p>
        </p:txBody>
      </p:sp>
      <p:sp>
        <p:nvSpPr>
          <p:cNvPr id="19" name="Shape 17"/>
          <p:cNvSpPr/>
          <p:nvPr/>
        </p:nvSpPr>
        <p:spPr>
          <a:xfrm>
            <a:off x="3413684" y="3383280"/>
            <a:ext cx="2590724" cy="2606040"/>
          </a:xfrm>
          <a:prstGeom prst="roundRect">
            <a:avLst>
              <a:gd name="adj" fmla="val 3530"/>
            </a:avLst>
          </a:prstGeom>
          <a:solidFill>
            <a:srgbClr val="141922"/>
          </a:solidFill>
          <a:ln w="12700">
            <a:solidFill>
              <a:srgbClr val="141922"/>
            </a:solidFill>
            <a:prstDash val="solid"/>
          </a:ln>
        </p:spPr>
      </p:sp>
      <p:sp>
        <p:nvSpPr>
          <p:cNvPr id="20" name="Text 18"/>
          <p:cNvSpPr txBox="1"/>
          <p:nvPr/>
        </p:nvSpPr>
        <p:spPr>
          <a:xfrm>
            <a:off x="3669716"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THE ROOM'S BOX</a:t>
            </a:r>
            <a:endParaRPr lang="en-US" sz="1050" dirty="0"/>
          </a:p>
        </p:txBody>
      </p:sp>
      <p:sp>
        <p:nvSpPr>
          <p:cNvPr id="21" name="Text 19"/>
          <p:cNvSpPr txBox="1"/>
          <p:nvPr/>
        </p:nvSpPr>
        <p:spPr>
          <a:xfrm>
            <a:off x="3669716"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2.3, the URL</a:t>
            </a:r>
            <a:endParaRPr lang="en-US" sz="1800" dirty="0"/>
          </a:p>
        </p:txBody>
      </p:sp>
      <p:sp>
        <p:nvSpPr>
          <p:cNvPr id="22" name="Text 20"/>
          <p:cNvSpPr txBox="1"/>
          <p:nvPr/>
        </p:nvSpPr>
        <p:spPr>
          <a:xfrm>
            <a:off x="3669716"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CG 1-20 ADD 1 "&lt;URL&gt;" 1, loaded once, then cued from the dashboard.</a:t>
            </a:r>
            <a:endParaRPr lang="en-US" sz="1400" dirty="0"/>
          </a:p>
        </p:txBody>
      </p:sp>
      <p:sp>
        <p:nvSpPr>
          <p:cNvPr id="23" name="Text 21"/>
          <p:cNvSpPr txBox="1"/>
          <p:nvPr/>
        </p:nvSpPr>
        <p:spPr>
          <a:xfrm>
            <a:off x="3669716"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/docs#casparcg-url</a:t>
            </a:r>
            <a:endParaRPr lang="en-US" sz="1200" dirty="0"/>
          </a:p>
        </p:txBody>
      </p:sp>
      <p:sp>
        <p:nvSpPr>
          <p:cNvPr id="24" name="Shape 22"/>
          <p:cNvSpPr/>
          <p:nvPr/>
        </p:nvSpPr>
        <p:spPr>
          <a:xfrm>
            <a:off x="6187288" y="3383280"/>
            <a:ext cx="2590724" cy="2606040"/>
          </a:xfrm>
          <a:prstGeom prst="roundRect">
            <a:avLst>
              <a:gd name="adj" fmla="val 3530"/>
            </a:avLst>
          </a:prstGeom>
          <a:solidFill>
            <a:srgbClr val="141922"/>
          </a:solidFill>
          <a:ln w="12700">
            <a:solidFill>
              <a:srgbClr val="141922"/>
            </a:solidFill>
            <a:prstDash val="solid"/>
          </a:ln>
        </p:spPr>
      </p:sp>
      <p:sp>
        <p:nvSpPr>
          <p:cNvPr id="25" name="Text 23"/>
          <p:cNvSpPr txBox="1"/>
          <p:nvPr/>
        </p:nvSpPr>
        <p:spPr>
          <a:xfrm>
            <a:off x="6443320"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NO NETWORK</a:t>
            </a:r>
            <a:endParaRPr lang="en-US" sz="1050" dirty="0"/>
          </a:p>
        </p:txBody>
      </p:sp>
      <p:sp>
        <p:nvSpPr>
          <p:cNvPr id="26" name="Text 24"/>
          <p:cNvSpPr txBox="1"/>
          <p:nvPr/>
        </p:nvSpPr>
        <p:spPr>
          <a:xfrm>
            <a:off x="6443320"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or SPX, a file</a:t>
            </a:r>
            <a:endParaRPr lang="en-US" sz="1800" dirty="0"/>
          </a:p>
        </p:txBody>
      </p:sp>
      <p:sp>
        <p:nvSpPr>
          <p:cNvPr id="27" name="Text 25"/>
          <p:cNvSpPr txBox="1"/>
          <p:nvPr/>
        </p:nvSpPr>
        <p:spPr>
          <a:xfrm>
            <a:off x="6443320"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the package, play the file, drive it from the bundled control panel.</a:t>
            </a:r>
            <a:endParaRPr lang="en-US" sz="1400" dirty="0"/>
          </a:p>
        </p:txBody>
      </p:sp>
      <p:sp>
        <p:nvSpPr>
          <p:cNvPr id="28" name="Text 26"/>
          <p:cNvSpPr txBox="1"/>
          <p:nvPr/>
        </p:nvSpPr>
        <p:spPr>
          <a:xfrm>
            <a:off x="6443320"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9" name="Shape 27"/>
          <p:cNvSpPr/>
          <p:nvPr/>
        </p:nvSpPr>
        <p:spPr>
          <a:xfrm>
            <a:off x="8960891" y="3383280"/>
            <a:ext cx="2590724" cy="2606040"/>
          </a:xfrm>
          <a:prstGeom prst="roundRect">
            <a:avLst>
              <a:gd name="adj" fmla="val 3530"/>
            </a:avLst>
          </a:prstGeom>
          <a:solidFill>
            <a:srgbClr val="141922"/>
          </a:solidFill>
          <a:ln w="12700">
            <a:solidFill>
              <a:srgbClr val="141922"/>
            </a:solidFill>
            <a:prstDash val="solid"/>
          </a:ln>
        </p:spPr>
      </p:sp>
      <p:sp>
        <p:nvSpPr>
          <p:cNvPr id="30" name="Text 28"/>
          <p:cNvSpPr txBox="1"/>
          <p:nvPr/>
        </p:nvSpPr>
        <p:spPr>
          <a:xfrm>
            <a:off x="9216923"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FOR YLE</a:t>
            </a:r>
            <a:endParaRPr lang="en-US" sz="1050" dirty="0"/>
          </a:p>
        </p:txBody>
      </p:sp>
      <p:sp>
        <p:nvSpPr>
          <p:cNvPr id="31" name="Text 29"/>
          <p:cNvSpPr txBox="1"/>
          <p:nvPr/>
        </p:nvSpPr>
        <p:spPr>
          <a:xfrm>
            <a:off x="9216923"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An OGraf renderer</a:t>
            </a:r>
            <a:endParaRPr lang="en-US" sz="1800" dirty="0"/>
          </a:p>
        </p:txBody>
      </p:sp>
      <p:sp>
        <p:nvSpPr>
          <p:cNvPr id="32" name="Text 30"/>
          <p:cNvSpPr txBox="1"/>
          <p:nvPr/>
        </p:nvSpPr>
        <p:spPr>
          <a:xfrm>
            <a:off x="9216923"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as an OGraf package, or take a starter from noacg.studio/ograf.</a:t>
            </a:r>
            <a:endParaRPr lang="en-US" sz="1400" dirty="0"/>
          </a:p>
        </p:txBody>
      </p:sp>
      <p:sp>
        <p:nvSpPr>
          <p:cNvPr id="33" name="Text 31"/>
          <p:cNvSpPr txBox="1"/>
          <p:nvPr/>
        </p:nvSpPr>
        <p:spPr>
          <a:xfrm>
            <a:off x="9216923"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noacg.studio/ograf</a:t>
            </a:r>
            <a:endParaRPr lang="en-US" sz="1200" dirty="0"/>
          </a:p>
        </p:txBody>
      </p:sp>
      <p:sp>
        <p:nvSpPr>
          <p:cNvPr id="34" name="Text 3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5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83080"/>
            <a:ext cx="10911535"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Text 4"/>
          <p:cNvSpPr txBox="1"/>
          <p:nvPr/>
        </p:nvSpPr>
        <p:spPr>
          <a:xfrm>
            <a:off x="640080"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7" name="Text 5"/>
          <p:cNvSpPr txBox="1"/>
          <p:nvPr/>
        </p:nvSpPr>
        <p:spPr>
          <a:xfrm>
            <a:off x="640080"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8" name="Text 6"/>
          <p:cNvSpPr txBox="1"/>
          <p:nvPr/>
        </p:nvSpPr>
        <p:spPr>
          <a:xfrm>
            <a:off x="640080"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9" name="Text 7"/>
          <p:cNvSpPr txBox="1"/>
          <p:nvPr/>
        </p:nvSpPr>
        <p:spPr>
          <a:xfrm>
            <a:off x="640080"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0" name="Text 8"/>
          <p:cNvSpPr txBox="1"/>
          <p:nvPr/>
        </p:nvSpPr>
        <p:spPr>
          <a:xfrm>
            <a:off x="640080"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1" name="Text 9"/>
          <p:cNvSpPr txBox="1"/>
          <p:nvPr/>
        </p:nvSpPr>
        <p:spPr>
          <a:xfrm>
            <a:off x="4368698"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2" name="Text 10"/>
          <p:cNvSpPr txBox="1"/>
          <p:nvPr/>
        </p:nvSpPr>
        <p:spPr>
          <a:xfrm>
            <a:off x="4368698"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3" name="Text 11"/>
          <p:cNvSpPr txBox="1"/>
          <p:nvPr/>
        </p:nvSpPr>
        <p:spPr>
          <a:xfrm>
            <a:off x="4368698"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4" name="Text 12"/>
          <p:cNvSpPr txBox="1"/>
          <p:nvPr/>
        </p:nvSpPr>
        <p:spPr>
          <a:xfrm>
            <a:off x="4368698"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5" name="Text 13"/>
          <p:cNvSpPr txBox="1"/>
          <p:nvPr/>
        </p:nvSpPr>
        <p:spPr>
          <a:xfrm>
            <a:off x="4368698"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6" name="Text 14"/>
          <p:cNvSpPr txBox="1"/>
          <p:nvPr/>
        </p:nvSpPr>
        <p:spPr>
          <a:xfrm>
            <a:off x="8097317"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17" name="Text 15"/>
          <p:cNvSpPr txBox="1"/>
          <p:nvPr/>
        </p:nvSpPr>
        <p:spPr>
          <a:xfrm>
            <a:off x="8097317"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18" name="Text 16"/>
          <p:cNvSpPr txBox="1"/>
          <p:nvPr/>
        </p:nvSpPr>
        <p:spPr>
          <a:xfrm>
            <a:off x="8097317"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19" name="Text 17"/>
          <p:cNvSpPr txBox="1"/>
          <p:nvPr/>
        </p:nvSpPr>
        <p:spPr>
          <a:xfrm>
            <a:off x="8097317"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0" name="Text 18"/>
          <p:cNvSpPr txBox="1"/>
          <p:nvPr/>
        </p:nvSpPr>
        <p:spPr>
          <a:xfrm>
            <a:off x="8097317"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1" name="Text 19"/>
          <p:cNvSpPr txBox="1"/>
          <p:nvPr/>
        </p:nvSpPr>
        <p:spPr>
          <a:xfrm>
            <a:off x="8097317" y="461772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2" name="Text 20"/>
          <p:cNvSpPr txBox="1"/>
          <p:nvPr/>
        </p:nvSpPr>
        <p:spPr>
          <a:xfrm>
            <a:off x="8097317" y="492861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3" name="Text 21"/>
          <p:cNvSpPr txBox="1"/>
          <p:nvPr/>
        </p:nvSpPr>
        <p:spPr>
          <a:xfrm>
            <a:off x="8097317" y="525780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4" name="Text 22"/>
          <p:cNvSpPr txBox="1"/>
          <p:nvPr/>
        </p:nvSpPr>
        <p:spPr>
          <a:xfrm>
            <a:off x="8097317" y="556869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5" name="Text 23"/>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2026-09-09T15:07:49Z</dcterms:created>
  <dcterms:modified xsi:type="dcterms:W3CDTF">2026-09-09T15:07:49Z</dcterms:modified>
</cp:coreProperties>
</file>