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ROOM, NOT IN IT. B0, the network: the 2026-08-20 Yle demo failed on Yle's network, and the diag screenshot from that network (https://noacg.studio/app?diag=1) is still an open owner item, docs/acceptance/owner-queue/2026-09-09-g-yle-network-diag-screenshot.md. If it has not arrived, the phone hotspot is the plan and you say so in the room. This deck opens from a file and needs no network.
B1: the morning of, check https://noacg.studio/version.json against the tip of main.
THE CLOCK. 10 opening, 30 road 1, 25 road 2, 20 on air, 5 close. A beat that runs long is cut at the next beat's boundary, never stretched.
WHO DRIVES. They do, on their own laptops. We drive the CasparCG box, the OGraf renderer and one agent on the screen.
Source: docs/DEMO_2026-09-25.md §0 (the five calls, timing), §1 (B0,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O1. Every sentence on this slide has a row in docs/PROMISE_AUDIT.md, cited by its promise text: "Free and open source, AGPL-3.0, no paid edition"; "No lock-in: real HTML/CSS/JS, self-contained packages, runs from a local file with no internet" (WORKS WITH A STATED LIMITATION: the single-file targets and the SPX folder run from a file; an OGraf or LiveOS package is ES modules and needs an http server, which is why the slide says single-file); "Exports to SPX Graphics, CasparCG, OBS and vMix, H2R, LiveOS, OGraf"; "No account to create, edit and export"; "A production ... one persistent output URL" (the free account).
IF ASKED. CasparCG Connect through the CLI agent has not been run against real hardware; the exported package has (docs/STUDENT_RELEASE_ACCEPTANCE.md §2).
Source: docs/DEMO_2026-09-25.md §2 O1; docs/PROMISE_AUDIT.md.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O2. This is the deck the script asked for: one picture plus the beat headings. Say the shape out loud now so the room knows why on-air comes last: an imported SVG and an agent-made graphic both become a library record, both go into a production, and both air through one output URL (§0, call 2).
ORDER. Road 1 goes first because the whole room can do it with no terminal, no subscription and no account (§0, call 3).
Source: docs/DEMO_2026-09-25.md §0 calls 2 and 3, §2 O2.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R1.1 to R1.6. Status on 2026-09-09: WORKS on the shipped samples for all six beats, with one exception. R1.4, behaviour on artwork nobody at NoaCG drew, is pinned by e2e/import-svg-behaviour.spec.ts, but you have not looked at your OWN quiz board since the three text-box fixes (docs/TEXT_BOX_BINDING.md). The 12th is that walk.
R1.3 ON THEIR OWN FILE. The growth default is measured off the geometry and for some exporter shapes it disagrees with what the designer meant (docs/backlog/svg-growth-default-across-exporters.md). That is why the dropdown sentence is said out loud rather than waited for.
R1.5. A Yle designer's licensed face takes the upload road; the Google door is offered only where Google has the family.
NOT A BEAT. The live-vote encore needs a fixture brought by hand and has two open backlog items; only if the room is ahead of the clock.
Source: docs/DEMO_2026-09-25.md §3; the guide is docs.html #first-graphic, landed 2026-09-09.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R2.1 is for everyone, subscription or not. R2.3: you drive one agent on the screen; the evidence is the 2026-08-22 round, 25 of 25 cells validator-clean and every one airable in your own blind read (benchmarks/agent/rounds/2026-08-22/VERDICT.md).
THE NUMBER. docs/AGENT_CLI.md, "Time to air, measured": one walk, one machine, 2026-09-09, against a dev server on the branch's own build (not 0.3.0 from npm), from an empty folder. 24.8 s is doctor + types + scaffold + validate + inspect + screenshot + pack. Setup once per machine is another 8.7 s.
R2.5: THE CLOUD LEG IS UNTIMED. The measurement stopped at the package's own fallback player. The cloud save and the studio's output URL were not walked: save refused against the dev server (the CLI's key store is per origin) and writing into the live library from an unattended session was not done. The script carries that leg as §7 row 8, the live save with a stopwatch on it. Do not say "minutes to air" as a measured claim; the slide's wording is the honest one.
UNSEEN SINCE 2026-08-23. R2.1 against noacg.studio and R2.4 the live save (§7 row 8), and B5 the install lines on a fresh machine, last executed 2026-08-22 for Claude Code and 2026-08-27 for Codex, with the Codex side of the noacg-mcp split not re-verified (§7 row 6). Both are cheap to close before the day.
Source: docs/DEMO_2026-09-25.md §4, §7 rows 6, 8; docs/AGENT_CLI.md "Time to air,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A1 WORKS. A2 WORKS except the eyes-on half of the imported quiz over the hosted log (docs/acceptance/IMPORTED_QUIZ_HOSTED_WALK.md step 2), which the 12th is. Status of the four targets on 2026-09-09:
OBS (A3): UNSEEN (box). The route is written and the output page's recovery is pinned, but no written tick exists for the OBS half because §1 of docs/STUDENT_RELEASE_ACCEPTANCE.md has no OBS line. You have done it; on the 12th you write the line and tick it.
CASPARCG WITH THE URL (A4): UNSEEN (box). The output page is compiled down to what 2.3.x runs; unseen on a real box until the 12th ticks the §8.7 line. If it is red there, the file export is the fallback in the same room.
CASPARCG OR SPX WITH A FILE (A5): WORKS, proven on your own server; the CasparCG package has carried an operator page since 2026-09-04.
OGRAF (A7): catalog and agent packages were driven in SuperFly's ograf-server on 2026-08-18 and 2026-08-22 (docs/OGRAF.md). An imported-SVG graphic WITH behaviour has not been driven in an external renderer (§7 row 7), and which renderer Yle runs is asked in the same owner message as the network screenshot.
NOT ON THE SLIDE. A6, CasparCG Connect through the CLI agent: show it only if the 12th proves it on hardware; A4 does the same job by hand. A8, NoaCG driving a production on an OGraf renderer with the renderer in control: not a beat; if asked, today NoaCG packages and the renderer controls.
B2. Email confirmation is off, so a sign-up works at once. If the dialog still says "Check your email to confirm your account", tell the room to ignore that line (docs/backlog/sign-up-says-check-your-email-with-confirmations-off.md).
Source: docs/DEMO_2026-09-25.md §5, §7 rows 2, 3, 7, 10, 11; docs/STUDENT_RELEASE_ACCEPTANCE.md §1,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G1. The end-to-end SVG page is /docs#first-graphic, landed 2026-09-09; the CLI page was end to end already. Each section is pinned by e2e/docs.spec.ts.
G2, THE PRINTED ONE-PAGE INDEX, DOES NOT EXIST and is not on this slide (§7 row 12). If the laptop dies, print this deck's notes pages: one slide per page with these notes under it.
Source: docs/DEMO_2026-09-25.md §6, §7 row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1 / 7</a:t>
            </a:r>
            <a:endParaRPr lang="en-US" sz="1100" dirty="0"/>
          </a:p>
        </p:txBody>
      </p:sp>
      <p:sp>
        <p:nvSpPr>
          <p:cNvPr id="3" name="Shape 1"/>
          <p:cNvSpPr/>
          <p:nvPr/>
        </p:nvSpPr>
        <p:spPr>
          <a:xfrm>
            <a:off x="640080" y="685800"/>
            <a:ext cx="731520" cy="182880"/>
          </a:xfrm>
          <a:prstGeom prst="roundRect">
            <a:avLst>
              <a:gd name="adj" fmla="val 20000"/>
            </a:avLst>
          </a:prstGeom>
          <a:solidFill>
            <a:srgbClr val="F6A623"/>
          </a:solidFill>
          <a:ln w="12700">
            <a:solidFill>
              <a:srgbClr val="F6A623"/>
            </a:solidFill>
            <a:prstDash val="solid"/>
          </a:ln>
        </p:spPr>
      </p:sp>
      <p:sp>
        <p:nvSpPr>
          <p:cNvPr id="4" name="Shape 2"/>
          <p:cNvSpPr/>
          <p:nvPr/>
        </p:nvSpPr>
        <p:spPr>
          <a:xfrm>
            <a:off x="640080" y="960120"/>
            <a:ext cx="482803" cy="182880"/>
          </a:xfrm>
          <a:prstGeom prst="roundRect">
            <a:avLst>
              <a:gd name="adj" fmla="val 20000"/>
            </a:avLst>
          </a:prstGeom>
          <a:solidFill>
            <a:srgbClr val="F6A623"/>
          </a:solidFill>
          <a:ln w="12700">
            <a:solidFill>
              <a:srgbClr val="F6A623"/>
            </a:solidFill>
            <a:prstDash val="solid"/>
          </a:ln>
        </p:spPr>
      </p:sp>
      <p:sp>
        <p:nvSpPr>
          <p:cNvPr id="5" name="Shape 3"/>
          <p:cNvSpPr/>
          <p:nvPr/>
        </p:nvSpPr>
        <p:spPr>
          <a:xfrm>
            <a:off x="640080" y="1234440"/>
            <a:ext cx="292608" cy="182880"/>
          </a:xfrm>
          <a:prstGeom prst="roundRect">
            <a:avLst>
              <a:gd name="adj" fmla="val 20000"/>
            </a:avLst>
          </a:prstGeom>
          <a:solidFill>
            <a:srgbClr val="F6A623"/>
          </a:solidFill>
          <a:ln w="12700">
            <a:solidFill>
              <a:srgbClr val="F6A623"/>
            </a:solidFill>
            <a:prstDash val="solid"/>
          </a:ln>
        </p:spPr>
      </p:sp>
      <p:sp>
        <p:nvSpPr>
          <p:cNvPr id="6" name="Text 4"/>
          <p:cNvSpPr txBox="1"/>
          <p:nvPr/>
        </p:nvSpPr>
        <p:spPr>
          <a:xfrm>
            <a:off x="1554480" y="658368"/>
            <a:ext cx="2743200" cy="457200"/>
          </a:xfrm>
          <a:prstGeom prst="rect">
            <a:avLst/>
          </a:prstGeom>
          <a:noFill/>
          <a:ln/>
        </p:spPr>
        <p:txBody>
          <a:bodyPr wrap="square" lIns="0" tIns="0" rIns="0" bIns="0" rtlCol="0" anchor="t"/>
          <a:lstStyle/>
          <a:p>
            <a:pPr indent="0" marL="0">
              <a:buNone/>
            </a:pPr>
            <a:r>
              <a:rPr lang="en-US" sz="2800" b="1" spc="-100" kern="0" dirty="0">
                <a:solidFill>
                  <a:srgbClr val="E8EDF2"/>
                </a:solidFill>
                <a:latin typeface="Arial" pitchFamily="34" charset="0"/>
                <a:ea typeface="Arial" pitchFamily="34" charset="-122"/>
                <a:cs typeface="Arial" pitchFamily="34" charset="-120"/>
              </a:rPr>
              <a:t>Noa</a:t>
            </a:r>
            <a:pPr indent="0" marL="0">
              <a:buNone/>
            </a:pPr>
            <a:r>
              <a:rPr lang="en-US" sz="2800" spc="-100" kern="0" dirty="0">
                <a:solidFill>
                  <a:srgbClr val="8B98A8"/>
                </a:solidFill>
                <a:latin typeface="Arial" pitchFamily="34" charset="0"/>
                <a:ea typeface="Arial" pitchFamily="34" charset="-122"/>
                <a:cs typeface="Arial" pitchFamily="34" charset="-120"/>
              </a:rPr>
              <a:t>CG</a:t>
            </a:r>
            <a:endParaRPr lang="en-US" sz="2800" dirty="0"/>
          </a:p>
        </p:txBody>
      </p:sp>
      <p:sp>
        <p:nvSpPr>
          <p:cNvPr id="7" name="Text 5"/>
          <p:cNvSpPr txBox="1"/>
          <p:nvPr/>
        </p:nvSpPr>
        <p:spPr>
          <a:xfrm>
            <a:off x="1554480" y="1097280"/>
            <a:ext cx="2743200" cy="228600"/>
          </a:xfrm>
          <a:prstGeom prst="rect">
            <a:avLst/>
          </a:prstGeom>
          <a:noFill/>
          <a:ln/>
        </p:spPr>
        <p:txBody>
          <a:bodyPr wrap="square" lIns="0" tIns="0" rIns="0" bIns="0" rtlCol="0" anchor="t"/>
          <a:lstStyle/>
          <a:p>
            <a:pPr indent="0" marL="0">
              <a:buNone/>
            </a:pPr>
            <a:r>
              <a:rPr lang="en-US" sz="1100" spc="300" kern="0" dirty="0">
                <a:solidFill>
                  <a:srgbClr val="8B98A8"/>
                </a:solidFill>
                <a:latin typeface="Consolas" pitchFamily="34" charset="0"/>
                <a:ea typeface="Consolas" pitchFamily="34" charset="-122"/>
                <a:cs typeface="Consolas" pitchFamily="34" charset="-120"/>
              </a:rPr>
              <a:t>STUDIO</a:t>
            </a:r>
            <a:endParaRPr lang="en-US" sz="1100" dirty="0"/>
          </a:p>
        </p:txBody>
      </p:sp>
      <p:sp>
        <p:nvSpPr>
          <p:cNvPr id="8" name="Text 6"/>
          <p:cNvSpPr txBox="1"/>
          <p:nvPr/>
        </p:nvSpPr>
        <p:spPr>
          <a:xfrm>
            <a:off x="640080" y="214884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25 SEPTEMBER 2026  ·  STUDENTS AND YLE  ·  HANDS ON</a:t>
            </a:r>
            <a:endParaRPr lang="en-US" sz="1200" dirty="0"/>
          </a:p>
        </p:txBody>
      </p:sp>
      <p:sp>
        <p:nvSpPr>
          <p:cNvPr id="9" name="Text 7"/>
          <p:cNvSpPr txBox="1"/>
          <p:nvPr/>
        </p:nvSpPr>
        <p:spPr>
          <a:xfrm>
            <a:off x="640080" y="2560320"/>
            <a:ext cx="10911535" cy="1737360"/>
          </a:xfrm>
          <a:prstGeom prst="rect">
            <a:avLst/>
          </a:prstGeom>
          <a:noFill/>
          <a:ln/>
        </p:spPr>
        <p:txBody>
          <a:bodyPr wrap="square" lIns="0" tIns="0" rIns="0" bIns="0" rtlCol="0" anchor="t"/>
          <a:lstStyle/>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Your own graphics,</a:t>
            </a:r>
            <a:endParaRPr lang="en-US" sz="5600" dirty="0"/>
          </a:p>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on your own systems.</a:t>
            </a:r>
            <a:endParaRPr lang="en-US" sz="5600" dirty="0"/>
          </a:p>
        </p:txBody>
      </p:sp>
      <p:sp>
        <p:nvSpPr>
          <p:cNvPr id="10" name="Text 8"/>
          <p:cNvSpPr txBox="1"/>
          <p:nvPr/>
        </p:nvSpPr>
        <p:spPr>
          <a:xfrm>
            <a:off x="640080" y="4434840"/>
            <a:ext cx="8412480" cy="914400"/>
          </a:xfrm>
          <a:prstGeom prst="rect">
            <a:avLst/>
          </a:prstGeom>
          <a:noFill/>
          <a:ln/>
        </p:spPr>
        <p:txBody>
          <a:bodyPr wrap="square" lIns="0" tIns="0" rIns="0" bIns="0" rtlCol="0" anchor="t"/>
          <a:lstStyle/>
          <a:p>
            <a:pPr indent="0" marL="0">
              <a:lnSpc>
                <a:spcPct val="115000"/>
              </a:lnSpc>
              <a:buNone/>
            </a:pPr>
            <a:r>
              <a:rPr lang="en-US" sz="2200" dirty="0">
                <a:solidFill>
                  <a:srgbClr val="C6CCD6"/>
                </a:solidFill>
                <a:latin typeface="Arial" pitchFamily="34" charset="0"/>
                <a:ea typeface="Arial" pitchFamily="34" charset="-122"/>
                <a:cs typeface="Arial" pitchFamily="34" charset="-120"/>
              </a:rPr>
              <a:t>Draw one, or ask your coding agent for one. Put it on air from a browser. Then run it on whatever you already have in the room.</a:t>
            </a:r>
            <a:endParaRPr lang="en-US" sz="2200" dirty="0"/>
          </a:p>
        </p:txBody>
      </p:sp>
      <p:sp>
        <p:nvSpPr>
          <p:cNvPr id="11" name="Text 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Ninety minutes. You drive; we drive only what needs a playout box or an agent subscription.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2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10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What NoaCG is</a:t>
            </a:r>
            <a:endParaRPr lang="en-US" sz="4400" dirty="0"/>
          </a:p>
        </p:txBody>
      </p:sp>
      <p:sp>
        <p:nvSpPr>
          <p:cNvPr id="5" name="Shape 3"/>
          <p:cNvSpPr/>
          <p:nvPr/>
        </p:nvSpPr>
        <p:spPr>
          <a:xfrm>
            <a:off x="640080" y="1737360"/>
            <a:ext cx="5355184" cy="1965960"/>
          </a:xfrm>
          <a:prstGeom prst="roundRect">
            <a:avLst>
              <a:gd name="adj" fmla="val 4651"/>
            </a:avLst>
          </a:prstGeom>
          <a:solidFill>
            <a:srgbClr val="141922"/>
          </a:solidFill>
          <a:ln w="12700">
            <a:solidFill>
              <a:srgbClr val="141922"/>
            </a:solidFill>
            <a:prstDash val="solid"/>
          </a:ln>
        </p:spPr>
      </p:sp>
      <p:sp>
        <p:nvSpPr>
          <p:cNvPr id="6" name="Text 4"/>
          <p:cNvSpPr txBox="1"/>
          <p:nvPr/>
        </p:nvSpPr>
        <p:spPr>
          <a:xfrm>
            <a:off x="960120"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960120"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Free and open source.</a:t>
            </a:r>
            <a:endParaRPr lang="en-US" sz="2400" dirty="0"/>
          </a:p>
        </p:txBody>
      </p:sp>
      <p:sp>
        <p:nvSpPr>
          <p:cNvPr id="8" name="Text 6"/>
          <p:cNvSpPr txBox="1"/>
          <p:nvPr/>
        </p:nvSpPr>
        <p:spPr>
          <a:xfrm>
            <a:off x="960120"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AGPL-3.0. There is no edition to buy.</a:t>
            </a:r>
            <a:endParaRPr lang="en-US" sz="1700" dirty="0"/>
          </a:p>
        </p:txBody>
      </p:sp>
      <p:sp>
        <p:nvSpPr>
          <p:cNvPr id="9" name="Shape 7"/>
          <p:cNvSpPr/>
          <p:nvPr/>
        </p:nvSpPr>
        <p:spPr>
          <a:xfrm>
            <a:off x="6196432" y="1737360"/>
            <a:ext cx="5355184" cy="1965960"/>
          </a:xfrm>
          <a:prstGeom prst="roundRect">
            <a:avLst>
              <a:gd name="adj" fmla="val 4651"/>
            </a:avLst>
          </a:prstGeom>
          <a:solidFill>
            <a:srgbClr val="141922"/>
          </a:solidFill>
          <a:ln w="12700">
            <a:solidFill>
              <a:srgbClr val="141922"/>
            </a:solidFill>
            <a:prstDash val="solid"/>
          </a:ln>
        </p:spPr>
      </p:sp>
      <p:sp>
        <p:nvSpPr>
          <p:cNvPr id="10" name="Text 8"/>
          <p:cNvSpPr txBox="1"/>
          <p:nvPr/>
        </p:nvSpPr>
        <p:spPr>
          <a:xfrm>
            <a:off x="6516472"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1" name="Text 9"/>
          <p:cNvSpPr txBox="1"/>
          <p:nvPr/>
        </p:nvSpPr>
        <p:spPr>
          <a:xfrm>
            <a:off x="6516472"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The code is the graphic.</a:t>
            </a:r>
            <a:endParaRPr lang="en-US" sz="2400" dirty="0"/>
          </a:p>
        </p:txBody>
      </p:sp>
      <p:sp>
        <p:nvSpPr>
          <p:cNvPr id="12" name="Text 10"/>
          <p:cNvSpPr txBox="1"/>
          <p:nvPr/>
        </p:nvSpPr>
        <p:spPr>
          <a:xfrm>
            <a:off x="6516472"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Real HTML, CSS and JavaScript. A single-file export runs from a file, with no internet.</a:t>
            </a:r>
            <a:endParaRPr lang="en-US" sz="1700" dirty="0"/>
          </a:p>
        </p:txBody>
      </p:sp>
      <p:sp>
        <p:nvSpPr>
          <p:cNvPr id="13" name="Shape 11"/>
          <p:cNvSpPr/>
          <p:nvPr/>
        </p:nvSpPr>
        <p:spPr>
          <a:xfrm>
            <a:off x="640080" y="3904488"/>
            <a:ext cx="5355184" cy="1965960"/>
          </a:xfrm>
          <a:prstGeom prst="roundRect">
            <a:avLst>
              <a:gd name="adj" fmla="val 4651"/>
            </a:avLst>
          </a:prstGeom>
          <a:solidFill>
            <a:srgbClr val="141922"/>
          </a:solidFill>
          <a:ln w="12700">
            <a:solidFill>
              <a:srgbClr val="141922"/>
            </a:solidFill>
            <a:prstDash val="solid"/>
          </a:ln>
        </p:spPr>
      </p:sp>
      <p:sp>
        <p:nvSpPr>
          <p:cNvPr id="14" name="Text 12"/>
          <p:cNvSpPr txBox="1"/>
          <p:nvPr/>
        </p:nvSpPr>
        <p:spPr>
          <a:xfrm>
            <a:off x="960120"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5" name="Text 13"/>
          <p:cNvSpPr txBox="1"/>
          <p:nvPr/>
        </p:nvSpPr>
        <p:spPr>
          <a:xfrm>
            <a:off x="960120"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Export to what you already run.</a:t>
            </a:r>
            <a:endParaRPr lang="en-US" sz="2400" dirty="0"/>
          </a:p>
        </p:txBody>
      </p:sp>
      <p:sp>
        <p:nvSpPr>
          <p:cNvPr id="16" name="Text 14"/>
          <p:cNvSpPr txBox="1"/>
          <p:nvPr/>
        </p:nvSpPr>
        <p:spPr>
          <a:xfrm>
            <a:off x="960120"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SPX Graphics, CasparCG, OBS and vMix, H2R, LiveOS, OGraf.</a:t>
            </a:r>
            <a:endParaRPr lang="en-US" sz="1700" dirty="0"/>
          </a:p>
        </p:txBody>
      </p:sp>
      <p:sp>
        <p:nvSpPr>
          <p:cNvPr id="17" name="Shape 15"/>
          <p:cNvSpPr/>
          <p:nvPr/>
        </p:nvSpPr>
        <p:spPr>
          <a:xfrm>
            <a:off x="6196432" y="3904488"/>
            <a:ext cx="5355184" cy="1965960"/>
          </a:xfrm>
          <a:prstGeom prst="roundRect">
            <a:avLst>
              <a:gd name="adj" fmla="val 4651"/>
            </a:avLst>
          </a:prstGeom>
          <a:solidFill>
            <a:srgbClr val="141922"/>
          </a:solidFill>
          <a:ln w="12700">
            <a:solidFill>
              <a:srgbClr val="141922"/>
            </a:solidFill>
            <a:prstDash val="solid"/>
          </a:ln>
        </p:spPr>
      </p:sp>
      <p:sp>
        <p:nvSpPr>
          <p:cNvPr id="18" name="Text 16"/>
          <p:cNvSpPr txBox="1"/>
          <p:nvPr/>
        </p:nvSpPr>
        <p:spPr>
          <a:xfrm>
            <a:off x="6516472"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04</a:t>
            </a:r>
            <a:endParaRPr lang="en-US" sz="1200" dirty="0"/>
          </a:p>
        </p:txBody>
      </p:sp>
      <p:sp>
        <p:nvSpPr>
          <p:cNvPr id="19" name="Text 17"/>
          <p:cNvSpPr txBox="1"/>
          <p:nvPr/>
        </p:nvSpPr>
        <p:spPr>
          <a:xfrm>
            <a:off x="6516472"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No account until you publish.</a:t>
            </a:r>
            <a:endParaRPr lang="en-US" sz="2400" dirty="0"/>
          </a:p>
        </p:txBody>
      </p:sp>
      <p:sp>
        <p:nvSpPr>
          <p:cNvPr id="20" name="Text 18"/>
          <p:cNvSpPr txBox="1"/>
          <p:nvPr/>
        </p:nvSpPr>
        <p:spPr>
          <a:xfrm>
            <a:off x="6516472"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Create, edit and export with none. A free one to publish a production and get its URL.</a:t>
            </a:r>
            <a:endParaRPr lang="en-US" sz="1700" dirty="0"/>
          </a:p>
        </p:txBody>
      </p:sp>
      <p:sp>
        <p:nvSpPr>
          <p:cNvPr id="21" name="Text 1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noacg.studio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3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THE SHAPE OF THE SESSION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Two roads in, one road out.</a:t>
            </a:r>
            <a:endParaRPr lang="en-US" sz="4400" dirty="0"/>
          </a:p>
        </p:txBody>
      </p:sp>
      <p:sp>
        <p:nvSpPr>
          <p:cNvPr id="5" name="Text 3"/>
          <p:cNvSpPr txBox="1"/>
          <p:nvPr/>
        </p:nvSpPr>
        <p:spPr>
          <a:xfrm>
            <a:off x="640080" y="1691640"/>
            <a:ext cx="36576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 AND ROAD 2</a:t>
            </a:r>
            <a:endParaRPr lang="en-US" sz="1100" dirty="0"/>
          </a:p>
        </p:txBody>
      </p:sp>
      <p:sp>
        <p:nvSpPr>
          <p:cNvPr id="6" name="Text 4"/>
          <p:cNvSpPr txBox="1"/>
          <p:nvPr/>
        </p:nvSpPr>
        <p:spPr>
          <a:xfrm>
            <a:off x="8808415" y="1691640"/>
            <a:ext cx="2743200" cy="237744"/>
          </a:xfrm>
          <a:prstGeom prst="rect">
            <a:avLst/>
          </a:prstGeom>
          <a:noFill/>
          <a:ln/>
        </p:spPr>
        <p:txBody>
          <a:bodyPr wrap="square" lIns="0" tIns="0" rIns="0" bIns="0" rtlCol="0" anchor="t"/>
          <a:lstStyle/>
          <a:p>
            <a:pPr algn="r" indent="0" marL="0">
              <a:buNone/>
            </a:pPr>
            <a:r>
              <a:rPr lang="en-US" sz="1100" spc="200" kern="0" dirty="0">
                <a:solidFill>
                  <a:srgbClr val="F6A623"/>
                </a:solidFill>
                <a:latin typeface="Consolas" pitchFamily="34" charset="0"/>
                <a:ea typeface="Consolas" pitchFamily="34" charset="-122"/>
                <a:cs typeface="Consolas" pitchFamily="34" charset="-120"/>
              </a:rPr>
              <a:t>THE ROOM'S SYSTEMS</a:t>
            </a:r>
            <a:endParaRPr lang="en-US" sz="1100" dirty="0"/>
          </a:p>
        </p:txBody>
      </p:sp>
      <p:sp>
        <p:nvSpPr>
          <p:cNvPr id="7" name="Shape 5"/>
          <p:cNvSpPr/>
          <p:nvPr/>
        </p:nvSpPr>
        <p:spPr>
          <a:xfrm>
            <a:off x="640080" y="1943100"/>
            <a:ext cx="2743200" cy="1143000"/>
          </a:xfrm>
          <a:prstGeom prst="roundRect">
            <a:avLst>
              <a:gd name="adj" fmla="val 8000"/>
            </a:avLst>
          </a:prstGeom>
          <a:solidFill>
            <a:srgbClr val="141922"/>
          </a:solidFill>
          <a:ln w="12700">
            <a:solidFill>
              <a:srgbClr val="141922"/>
            </a:solidFill>
            <a:prstDash val="solid"/>
          </a:ln>
        </p:spPr>
      </p:sp>
      <p:sp>
        <p:nvSpPr>
          <p:cNvPr id="8" name="Text 6"/>
          <p:cNvSpPr txBox="1"/>
          <p:nvPr/>
        </p:nvSpPr>
        <p:spPr>
          <a:xfrm>
            <a:off x="841248" y="21076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9" name="Text 7"/>
          <p:cNvSpPr txBox="1"/>
          <p:nvPr/>
        </p:nvSpPr>
        <p:spPr>
          <a:xfrm>
            <a:off x="841248" y="23271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artwork</a:t>
            </a:r>
            <a:endParaRPr lang="en-US" sz="1800" dirty="0"/>
          </a:p>
        </p:txBody>
      </p:sp>
      <p:sp>
        <p:nvSpPr>
          <p:cNvPr id="10" name="Text 8"/>
          <p:cNvSpPr txBox="1"/>
          <p:nvPr/>
        </p:nvSpPr>
        <p:spPr>
          <a:xfrm>
            <a:off x="841248" y="26563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Illustrator, Figma or Inkscape. An SVG.</a:t>
            </a:r>
            <a:endParaRPr lang="en-US" sz="1250" dirty="0"/>
          </a:p>
        </p:txBody>
      </p:sp>
      <p:sp>
        <p:nvSpPr>
          <p:cNvPr id="11" name="Shape 9"/>
          <p:cNvSpPr/>
          <p:nvPr/>
        </p:nvSpPr>
        <p:spPr>
          <a:xfrm>
            <a:off x="640080" y="4000500"/>
            <a:ext cx="2743200" cy="1143000"/>
          </a:xfrm>
          <a:prstGeom prst="roundRect">
            <a:avLst>
              <a:gd name="adj" fmla="val 8000"/>
            </a:avLst>
          </a:prstGeom>
          <a:solidFill>
            <a:srgbClr val="141922"/>
          </a:solidFill>
          <a:ln w="12700">
            <a:solidFill>
              <a:srgbClr val="141922"/>
            </a:solidFill>
            <a:prstDash val="solid"/>
          </a:ln>
        </p:spPr>
      </p:sp>
      <p:sp>
        <p:nvSpPr>
          <p:cNvPr id="12" name="Text 10"/>
          <p:cNvSpPr txBox="1"/>
          <p:nvPr/>
        </p:nvSpPr>
        <p:spPr>
          <a:xfrm>
            <a:off x="841248" y="41650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13" name="Text 11"/>
          <p:cNvSpPr txBox="1"/>
          <p:nvPr/>
        </p:nvSpPr>
        <p:spPr>
          <a:xfrm>
            <a:off x="841248" y="43845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coding agent</a:t>
            </a:r>
            <a:endParaRPr lang="en-US" sz="1800" dirty="0"/>
          </a:p>
        </p:txBody>
      </p:sp>
      <p:sp>
        <p:nvSpPr>
          <p:cNvPr id="14" name="Text 12"/>
          <p:cNvSpPr txBox="1"/>
          <p:nvPr/>
        </p:nvSpPr>
        <p:spPr>
          <a:xfrm>
            <a:off x="841248" y="47137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Claude Code, Codex, or the CLI alone.</a:t>
            </a:r>
            <a:endParaRPr lang="en-US" sz="1250" dirty="0"/>
          </a:p>
        </p:txBody>
      </p:sp>
      <p:sp>
        <p:nvSpPr>
          <p:cNvPr id="15" name="Shape 13"/>
          <p:cNvSpPr/>
          <p:nvPr/>
        </p:nvSpPr>
        <p:spPr>
          <a:xfrm>
            <a:off x="3840480" y="2971800"/>
            <a:ext cx="1828800" cy="1143000"/>
          </a:xfrm>
          <a:prstGeom prst="roundRect">
            <a:avLst>
              <a:gd name="adj" fmla="val 8000"/>
            </a:avLst>
          </a:prstGeom>
          <a:solidFill>
            <a:srgbClr val="141922"/>
          </a:solidFill>
          <a:ln w="12700">
            <a:solidFill>
              <a:srgbClr val="141922"/>
            </a:solidFill>
            <a:prstDash val="solid"/>
          </a:ln>
        </p:spPr>
      </p:sp>
      <p:sp>
        <p:nvSpPr>
          <p:cNvPr id="16" name="Text 14"/>
          <p:cNvSpPr txBox="1"/>
          <p:nvPr/>
        </p:nvSpPr>
        <p:spPr>
          <a:xfrm>
            <a:off x="404164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Library</a:t>
            </a:r>
            <a:endParaRPr lang="en-US" sz="1800" dirty="0"/>
          </a:p>
        </p:txBody>
      </p:sp>
      <p:sp>
        <p:nvSpPr>
          <p:cNvPr id="17" name="Text 15"/>
          <p:cNvSpPr txBox="1"/>
          <p:nvPr/>
        </p:nvSpPr>
        <p:spPr>
          <a:xfrm>
            <a:off x="404164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One record, either road.</a:t>
            </a:r>
            <a:endParaRPr lang="en-US" sz="1250" dirty="0"/>
          </a:p>
        </p:txBody>
      </p:sp>
      <p:sp>
        <p:nvSpPr>
          <p:cNvPr id="18" name="Shape 16"/>
          <p:cNvSpPr/>
          <p:nvPr/>
        </p:nvSpPr>
        <p:spPr>
          <a:xfrm>
            <a:off x="6035040" y="2971800"/>
            <a:ext cx="1828800" cy="1143000"/>
          </a:xfrm>
          <a:prstGeom prst="roundRect">
            <a:avLst>
              <a:gd name="adj" fmla="val 8000"/>
            </a:avLst>
          </a:prstGeom>
          <a:solidFill>
            <a:srgbClr val="141922"/>
          </a:solidFill>
          <a:ln w="12700">
            <a:solidFill>
              <a:srgbClr val="141922"/>
            </a:solidFill>
            <a:prstDash val="solid"/>
          </a:ln>
        </p:spPr>
      </p:sp>
      <p:sp>
        <p:nvSpPr>
          <p:cNvPr id="19" name="Text 17"/>
          <p:cNvSpPr txBox="1"/>
          <p:nvPr/>
        </p:nvSpPr>
        <p:spPr>
          <a:xfrm>
            <a:off x="623620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Production</a:t>
            </a:r>
            <a:endParaRPr lang="en-US" sz="1800" dirty="0"/>
          </a:p>
        </p:txBody>
      </p:sp>
      <p:sp>
        <p:nvSpPr>
          <p:cNvPr id="20" name="Text 18"/>
          <p:cNvSpPr txBox="1"/>
          <p:nvPr/>
        </p:nvSpPr>
        <p:spPr>
          <a:xfrm>
            <a:off x="623620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Cues. Take, Update, Out.</a:t>
            </a:r>
            <a:endParaRPr lang="en-US" sz="1250" dirty="0"/>
          </a:p>
        </p:txBody>
      </p:sp>
      <p:sp>
        <p:nvSpPr>
          <p:cNvPr id="21" name="Shape 19"/>
          <p:cNvSpPr/>
          <p:nvPr/>
        </p:nvSpPr>
        <p:spPr>
          <a:xfrm>
            <a:off x="8229600" y="2971800"/>
            <a:ext cx="1691640" cy="1143000"/>
          </a:xfrm>
          <a:prstGeom prst="roundRect">
            <a:avLst>
              <a:gd name="adj" fmla="val 8000"/>
            </a:avLst>
          </a:prstGeom>
          <a:solidFill>
            <a:srgbClr val="141922"/>
          </a:solidFill>
          <a:ln w="19050">
            <a:solidFill>
              <a:srgbClr val="F6A623"/>
            </a:solidFill>
            <a:prstDash val="solid"/>
          </a:ln>
        </p:spPr>
      </p:sp>
      <p:sp>
        <p:nvSpPr>
          <p:cNvPr id="22" name="Text 20"/>
          <p:cNvSpPr txBox="1"/>
          <p:nvPr/>
        </p:nvSpPr>
        <p:spPr>
          <a:xfrm>
            <a:off x="8430768" y="3246120"/>
            <a:ext cx="132588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One URL</a:t>
            </a:r>
            <a:endParaRPr lang="en-US" sz="1800" dirty="0"/>
          </a:p>
        </p:txBody>
      </p:sp>
      <p:sp>
        <p:nvSpPr>
          <p:cNvPr id="23" name="Text 21"/>
          <p:cNvSpPr txBox="1"/>
          <p:nvPr/>
        </p:nvSpPr>
        <p:spPr>
          <a:xfrm>
            <a:off x="8430768" y="3611880"/>
            <a:ext cx="132588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The output, live.</a:t>
            </a:r>
            <a:endParaRPr lang="en-US" sz="1250" dirty="0"/>
          </a:p>
        </p:txBody>
      </p:sp>
      <p:sp>
        <p:nvSpPr>
          <p:cNvPr id="24" name="Shape 22"/>
          <p:cNvSpPr/>
          <p:nvPr/>
        </p:nvSpPr>
        <p:spPr>
          <a:xfrm>
            <a:off x="3383280" y="2514600"/>
            <a:ext cx="457200" cy="1028700"/>
          </a:xfrm>
          <a:prstGeom prst="line">
            <a:avLst/>
          </a:prstGeom>
          <a:noFill/>
          <a:ln w="19050">
            <a:solidFill>
              <a:srgbClr val="8B98A8"/>
            </a:solidFill>
            <a:prstDash val="solid"/>
            <a:tailEnd type="triangle"/>
          </a:ln>
        </p:spPr>
      </p:sp>
      <p:sp>
        <p:nvSpPr>
          <p:cNvPr id="25" name="Shape 23"/>
          <p:cNvSpPr/>
          <p:nvPr/>
        </p:nvSpPr>
        <p:spPr>
          <a:xfrm flipV="1">
            <a:off x="3383280" y="3543300"/>
            <a:ext cx="457200" cy="1028700"/>
          </a:xfrm>
          <a:prstGeom prst="line">
            <a:avLst/>
          </a:prstGeom>
          <a:noFill/>
          <a:ln w="19050">
            <a:solidFill>
              <a:srgbClr val="8B98A8"/>
            </a:solidFill>
            <a:prstDash val="solid"/>
            <a:tailEnd type="triangle"/>
          </a:ln>
        </p:spPr>
      </p:sp>
      <p:sp>
        <p:nvSpPr>
          <p:cNvPr id="26" name="Shape 24"/>
          <p:cNvSpPr/>
          <p:nvPr/>
        </p:nvSpPr>
        <p:spPr>
          <a:xfrm>
            <a:off x="5669280" y="3543300"/>
            <a:ext cx="365760" cy="0"/>
          </a:xfrm>
          <a:prstGeom prst="line">
            <a:avLst/>
          </a:prstGeom>
          <a:noFill/>
          <a:ln w="19050">
            <a:solidFill>
              <a:srgbClr val="8B98A8"/>
            </a:solidFill>
            <a:prstDash val="solid"/>
            <a:tailEnd type="triangle"/>
          </a:ln>
        </p:spPr>
      </p:sp>
      <p:sp>
        <p:nvSpPr>
          <p:cNvPr id="27" name="Shape 25"/>
          <p:cNvSpPr/>
          <p:nvPr/>
        </p:nvSpPr>
        <p:spPr>
          <a:xfrm>
            <a:off x="7863840" y="3543300"/>
            <a:ext cx="365760" cy="0"/>
          </a:xfrm>
          <a:prstGeom prst="line">
            <a:avLst/>
          </a:prstGeom>
          <a:noFill/>
          <a:ln w="19050">
            <a:solidFill>
              <a:srgbClr val="8B98A8"/>
            </a:solidFill>
            <a:prstDash val="solid"/>
            <a:tailEnd type="triangle"/>
          </a:ln>
        </p:spPr>
      </p:sp>
      <p:sp>
        <p:nvSpPr>
          <p:cNvPr id="28" name="Shape 26"/>
          <p:cNvSpPr/>
          <p:nvPr/>
        </p:nvSpPr>
        <p:spPr>
          <a:xfrm>
            <a:off x="10378440" y="2194560"/>
            <a:ext cx="1173175" cy="640080"/>
          </a:xfrm>
          <a:prstGeom prst="roundRect">
            <a:avLst>
              <a:gd name="adj" fmla="val 14286"/>
            </a:avLst>
          </a:prstGeom>
          <a:solidFill>
            <a:srgbClr val="141922"/>
          </a:solidFill>
          <a:ln w="12700">
            <a:solidFill>
              <a:srgbClr val="141922"/>
            </a:solidFill>
            <a:prstDash val="solid"/>
          </a:ln>
        </p:spPr>
      </p:sp>
      <p:sp>
        <p:nvSpPr>
          <p:cNvPr id="29" name="Text 27"/>
          <p:cNvSpPr txBox="1"/>
          <p:nvPr/>
        </p:nvSpPr>
        <p:spPr>
          <a:xfrm>
            <a:off x="10378440" y="21945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OBS</a:t>
            </a:r>
            <a:endParaRPr lang="en-US" sz="1400" dirty="0"/>
          </a:p>
        </p:txBody>
      </p:sp>
      <p:sp>
        <p:nvSpPr>
          <p:cNvPr id="30" name="Shape 28"/>
          <p:cNvSpPr/>
          <p:nvPr/>
        </p:nvSpPr>
        <p:spPr>
          <a:xfrm>
            <a:off x="10378440" y="3223260"/>
            <a:ext cx="1173175" cy="640080"/>
          </a:xfrm>
          <a:prstGeom prst="roundRect">
            <a:avLst>
              <a:gd name="adj" fmla="val 14286"/>
            </a:avLst>
          </a:prstGeom>
          <a:solidFill>
            <a:srgbClr val="141922"/>
          </a:solidFill>
          <a:ln w="12700">
            <a:solidFill>
              <a:srgbClr val="141922"/>
            </a:solidFill>
            <a:prstDash val="solid"/>
          </a:ln>
        </p:spPr>
      </p:sp>
      <p:sp>
        <p:nvSpPr>
          <p:cNvPr id="31" name="Text 29"/>
          <p:cNvSpPr txBox="1"/>
          <p:nvPr/>
        </p:nvSpPr>
        <p:spPr>
          <a:xfrm>
            <a:off x="10378440" y="32232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CasparCG</a:t>
            </a:r>
            <a:endParaRPr lang="en-US" sz="1400" dirty="0"/>
          </a:p>
        </p:txBody>
      </p:sp>
      <p:sp>
        <p:nvSpPr>
          <p:cNvPr id="32" name="Shape 30"/>
          <p:cNvSpPr/>
          <p:nvPr/>
        </p:nvSpPr>
        <p:spPr>
          <a:xfrm>
            <a:off x="10378440" y="4251960"/>
            <a:ext cx="1173175" cy="640080"/>
          </a:xfrm>
          <a:prstGeom prst="roundRect">
            <a:avLst>
              <a:gd name="adj" fmla="val 14286"/>
            </a:avLst>
          </a:prstGeom>
          <a:solidFill>
            <a:srgbClr val="141922"/>
          </a:solidFill>
          <a:ln w="12700">
            <a:solidFill>
              <a:srgbClr val="141922"/>
            </a:solidFill>
            <a:prstDash val="solid"/>
          </a:ln>
        </p:spPr>
      </p:sp>
      <p:sp>
        <p:nvSpPr>
          <p:cNvPr id="33" name="Text 31"/>
          <p:cNvSpPr txBox="1"/>
          <p:nvPr/>
        </p:nvSpPr>
        <p:spPr>
          <a:xfrm>
            <a:off x="10378440" y="42519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OGraf</a:t>
            </a:r>
            <a:endParaRPr lang="en-US" sz="1400" dirty="0"/>
          </a:p>
        </p:txBody>
      </p:sp>
      <p:sp>
        <p:nvSpPr>
          <p:cNvPr id="34" name="Shape 32"/>
          <p:cNvSpPr/>
          <p:nvPr/>
        </p:nvSpPr>
        <p:spPr>
          <a:xfrm flipV="1">
            <a:off x="9921240" y="2514600"/>
            <a:ext cx="457200" cy="1028700"/>
          </a:xfrm>
          <a:prstGeom prst="line">
            <a:avLst/>
          </a:prstGeom>
          <a:noFill/>
          <a:ln w="19050">
            <a:solidFill>
              <a:srgbClr val="F6A623"/>
            </a:solidFill>
            <a:prstDash val="solid"/>
            <a:tailEnd type="triangle"/>
          </a:ln>
        </p:spPr>
      </p:sp>
      <p:sp>
        <p:nvSpPr>
          <p:cNvPr id="35" name="Shape 33"/>
          <p:cNvSpPr/>
          <p:nvPr/>
        </p:nvSpPr>
        <p:spPr>
          <a:xfrm>
            <a:off x="9921240" y="3543300"/>
            <a:ext cx="457200" cy="0"/>
          </a:xfrm>
          <a:prstGeom prst="line">
            <a:avLst/>
          </a:prstGeom>
          <a:noFill/>
          <a:ln w="19050">
            <a:solidFill>
              <a:srgbClr val="F6A623"/>
            </a:solidFill>
            <a:prstDash val="solid"/>
            <a:tailEnd type="triangle"/>
          </a:ln>
        </p:spPr>
      </p:sp>
      <p:sp>
        <p:nvSpPr>
          <p:cNvPr id="36" name="Shape 34"/>
          <p:cNvSpPr/>
          <p:nvPr/>
        </p:nvSpPr>
        <p:spPr>
          <a:xfrm>
            <a:off x="9921240" y="3543300"/>
            <a:ext cx="457200" cy="1028700"/>
          </a:xfrm>
          <a:prstGeom prst="line">
            <a:avLst/>
          </a:prstGeom>
          <a:noFill/>
          <a:ln w="19050">
            <a:solidFill>
              <a:srgbClr val="F6A623"/>
            </a:solidFill>
            <a:prstDash val="solid"/>
            <a:tailEnd type="triangle"/>
          </a:ln>
        </p:spPr>
      </p:sp>
      <p:sp>
        <p:nvSpPr>
          <p:cNvPr id="37" name="Text 35"/>
          <p:cNvSpPr txBox="1"/>
          <p:nvPr/>
        </p:nvSpPr>
        <p:spPr>
          <a:xfrm>
            <a:off x="3840480" y="4297680"/>
            <a:ext cx="2651760" cy="548640"/>
          </a:xfrm>
          <a:prstGeom prst="rect">
            <a:avLst/>
          </a:prstGeom>
          <a:noFill/>
          <a:ln/>
        </p:spPr>
        <p:txBody>
          <a:bodyPr wrap="square" lIns="0" tIns="0" rIns="0" bIns="0" rtlCol="0" anchor="t"/>
          <a:lstStyle/>
          <a:p>
            <a:pPr indent="0" marL="0">
              <a:lnSpc>
                <a:spcPct val="115000"/>
              </a:lnSpc>
              <a:buNone/>
            </a:pPr>
            <a:r>
              <a:rPr lang="en-US" sz="1250" dirty="0">
                <a:solidFill>
                  <a:srgbClr val="8B98A8"/>
                </a:solidFill>
                <a:latin typeface="Arial" pitchFamily="34" charset="0"/>
                <a:ea typeface="Arial" pitchFamily="34" charset="-122"/>
                <a:cs typeface="Arial" pitchFamily="34" charset="-120"/>
              </a:rPr>
              <a:t>Or export a package from the library and play the file with no network at all.</a:t>
            </a:r>
            <a:endParaRPr lang="en-US" sz="1250" dirty="0"/>
          </a:p>
        </p:txBody>
      </p:sp>
      <p:sp>
        <p:nvSpPr>
          <p:cNvPr id="38" name="Text 36"/>
          <p:cNvSpPr txBox="1"/>
          <p:nvPr/>
        </p:nvSpPr>
        <p:spPr>
          <a:xfrm>
            <a:off x="640080" y="5486400"/>
            <a:ext cx="10911535" cy="457200"/>
          </a:xfrm>
          <a:prstGeom prst="rect">
            <a:avLst/>
          </a:prstGeom>
          <a:noFill/>
          <a:ln/>
        </p:spPr>
        <p:txBody>
          <a:bodyPr wrap="square" lIns="0" tIns="0" rIns="0" bIns="0" rtlCol="0" anchor="t"/>
          <a:lstStyle/>
          <a:p>
            <a:pPr indent="0" marL="0">
              <a:buNone/>
            </a:pPr>
            <a:r>
              <a:rPr lang="en-US" sz="1700" dirty="0">
                <a:solidFill>
                  <a:srgbClr val="C6CCD6"/>
                </a:solidFill>
                <a:latin typeface="Arial" pitchFamily="34" charset="0"/>
                <a:ea typeface="Arial" pitchFamily="34" charset="-122"/>
                <a:cs typeface="Arial" pitchFamily="34" charset="-120"/>
              </a:rPr>
              <a:t>Both roads end in the library. From there it is the same three steps, so we do that part once, together, at the end.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4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1  ·  30 MIN  ·  YOU DRIVE</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own graphic</a:t>
            </a:r>
            <a:endParaRPr lang="en-US" sz="4400" dirty="0"/>
          </a:p>
        </p:txBody>
      </p:sp>
      <p:sp>
        <p:nvSpPr>
          <p:cNvPr id="5" name="Text 3"/>
          <p:cNvSpPr txBox="1"/>
          <p:nvPr/>
        </p:nvSpPr>
        <p:spPr>
          <a:xfrm>
            <a:off x="640080" y="1783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6" name="Text 4"/>
          <p:cNvSpPr txBox="1"/>
          <p:nvPr/>
        </p:nvSpPr>
        <p:spPr>
          <a:xfrm>
            <a:off x="1143000" y="1737360"/>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Draw it to the five rules, or take a sample.</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/docs#svg-rules  ·  samples: lower-third, scorebug, quiz-board</a:t>
            </a:r>
            <a:endParaRPr lang="en-US" sz="1900" dirty="0"/>
          </a:p>
        </p:txBody>
      </p:sp>
      <p:sp>
        <p:nvSpPr>
          <p:cNvPr id="7" name="Text 5"/>
          <p:cNvSpPr txBox="1"/>
          <p:nvPr/>
        </p:nvSpPr>
        <p:spPr>
          <a:xfrm>
            <a:off x="640080" y="2679192"/>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8" name="Text 6"/>
          <p:cNvSpPr txBox="1"/>
          <p:nvPr/>
        </p:nvSpPr>
        <p:spPr>
          <a:xfrm>
            <a:off x="1143000" y="2633472"/>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Drop it. The layer names become the field names.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noacg.studio/app  &gt;  New graphic  &gt;  Import graphic</a:t>
            </a:r>
            <a:endParaRPr lang="en-US" sz="1900" dirty="0"/>
          </a:p>
        </p:txBody>
      </p:sp>
      <p:sp>
        <p:nvSpPr>
          <p:cNvPr id="9" name="Text 7"/>
          <p:cNvSpPr txBox="1"/>
          <p:nvPr/>
        </p:nvSpPr>
        <p:spPr>
          <a:xfrm>
            <a:off x="640080" y="3575304"/>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0" name="Text 8"/>
          <p:cNvSpPr txBox="1"/>
          <p:nvPr/>
        </p:nvSpPr>
        <p:spPr>
          <a:xfrm>
            <a:off x="1143000" y="3529584"/>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Type a name longer than you drew for. Watch what the panel does.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wider, then a new line, and only then smaller</a:t>
            </a:r>
            <a:endParaRPr lang="en-US" sz="1900" dirty="0"/>
          </a:p>
        </p:txBody>
      </p:sp>
      <p:sp>
        <p:nvSpPr>
          <p:cNvPr id="11" name="Text 9"/>
          <p:cNvSpPr txBox="1"/>
          <p:nvPr/>
        </p:nvSpPr>
        <p:spPr>
          <a:xfrm>
            <a:off x="640080" y="4471416"/>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04</a:t>
            </a:r>
            <a:endParaRPr lang="en-US" sz="1400" dirty="0"/>
          </a:p>
        </p:txBody>
      </p:sp>
      <p:sp>
        <p:nvSpPr>
          <p:cNvPr id="12" name="Text 10"/>
          <p:cNvSpPr txBox="1"/>
          <p:nvPr/>
        </p:nvSpPr>
        <p:spPr>
          <a:xfrm>
            <a:off x="1143000" y="4425696"/>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Pick what it does. The quiz board locks and reveals; the scorebug counts.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&gt;  Behaviour</a:t>
            </a:r>
            <a:endParaRPr lang="en-US" sz="1900" dirty="0"/>
          </a:p>
        </p:txBody>
      </p:sp>
      <p:sp>
        <p:nvSpPr>
          <p:cNvPr id="13" name="Text 11"/>
          <p:cNvSpPr txBox="1"/>
          <p:nvPr/>
        </p:nvSpPr>
        <p:spPr>
          <a:xfrm>
            <a:off x="640080" y="5367528"/>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05</a:t>
            </a:r>
            <a:endParaRPr lang="en-US" sz="1400" dirty="0"/>
          </a:p>
        </p:txBody>
      </p:sp>
      <p:sp>
        <p:nvSpPr>
          <p:cNvPr id="14" name="Text 12"/>
          <p:cNvSpPr txBox="1"/>
          <p:nvPr/>
        </p:nvSpPr>
        <p:spPr>
          <a:xfrm>
            <a:off x="1143000" y="5321808"/>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Create, then Finish: add it to a production.</a:t>
            </a:r>
            <a:endParaRPr lang="en-US" sz="1900" dirty="0"/>
          </a:p>
        </p:txBody>
      </p:sp>
      <p:sp>
        <p:nvSpPr>
          <p:cNvPr id="15" name="Shape 13"/>
          <p:cNvSpPr/>
          <p:nvPr/>
        </p:nvSpPr>
        <p:spPr>
          <a:xfrm>
            <a:off x="7406640" y="1737360"/>
            <a:ext cx="4144975" cy="1783080"/>
          </a:xfrm>
          <a:prstGeom prst="roundRect">
            <a:avLst>
              <a:gd name="adj" fmla="val 5128"/>
            </a:avLst>
          </a:prstGeom>
          <a:solidFill>
            <a:srgbClr val="141922"/>
          </a:solidFill>
          <a:ln w="12700">
            <a:solidFill>
              <a:srgbClr val="141922"/>
            </a:solidFill>
            <a:prstDash val="solid"/>
          </a:ln>
        </p:spPr>
      </p:sp>
      <p:sp>
        <p:nvSpPr>
          <p:cNvPr id="16" name="Text 14"/>
          <p:cNvSpPr txBox="1"/>
          <p:nvPr/>
        </p:nvSpPr>
        <p:spPr>
          <a:xfrm>
            <a:off x="7680960" y="2011680"/>
            <a:ext cx="35963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SAY IT BEFORE THEY ASK</a:t>
            </a:r>
            <a:endParaRPr lang="en-US" sz="1100" dirty="0"/>
          </a:p>
        </p:txBody>
      </p:sp>
      <p:sp>
        <p:nvSpPr>
          <p:cNvPr id="17" name="Text 15"/>
          <p:cNvSpPr txBox="1"/>
          <p:nvPr/>
        </p:nvSpPr>
        <p:spPr>
          <a:xfrm>
            <a:off x="7680960" y="2331720"/>
            <a:ext cx="3596335" cy="1097280"/>
          </a:xfrm>
          <a:prstGeom prst="rect">
            <a:avLst/>
          </a:prstGeom>
          <a:noFill/>
          <a:ln/>
        </p:spPr>
        <p:txBody>
          <a:bodyPr wrap="square" lIns="0" tIns="0" rIns="0" bIns="0" rtlCol="0" anchor="t"/>
          <a:lstStyle/>
          <a:p>
            <a:pPr indent="0" marL="0">
              <a:lnSpc>
                <a:spcPct val="115000"/>
              </a:lnSpc>
              <a:buNone/>
            </a:pPr>
            <a:r>
              <a:rPr lang="en-US" sz="1600" dirty="0">
                <a:solidFill>
                  <a:srgbClr val="C6CCD6"/>
                </a:solidFill>
                <a:latin typeface="Arial" pitchFamily="34" charset="0"/>
                <a:ea typeface="Arial" pitchFamily="34" charset="-122"/>
                <a:cs typeface="Arial" pitchFamily="34" charset="-120"/>
              </a:rPr>
              <a:t>If a long name does not grow the way you meant, the answer is one dropdown on the Fields step: </a:t>
            </a:r>
            <a:pPr indent="0" marL="0">
              <a:lnSpc>
                <a:spcPct val="115000"/>
              </a:lnSpc>
              <a:buNone/>
            </a:pPr>
            <a:r>
              <a:rPr lang="en-US" sz="1600" b="1" dirty="0">
                <a:solidFill>
                  <a:srgbClr val="C6CCD6"/>
                </a:solidFill>
                <a:latin typeface="Arial" pitchFamily="34" charset="0"/>
                <a:ea typeface="Arial" pitchFamily="34" charset="-122"/>
                <a:cs typeface="Arial" pitchFamily="34" charset="-120"/>
              </a:rPr>
              <a:t>When the text is too long</a:t>
            </a:r>
            <a:pPr indent="0" marL="0">
              <a:lnSpc>
                <a:spcPct val="115000"/>
              </a:lnSpc>
              <a:buNone/>
            </a:pPr>
            <a:r>
              <a:rPr lang="en-US" sz="1600" dirty="0">
                <a:solidFill>
                  <a:srgbClr val="C6CCD6"/>
                </a:solidFill>
                <a:latin typeface="Arial" pitchFamily="34" charset="0"/>
                <a:ea typeface="Arial" pitchFamily="34" charset="-122"/>
                <a:cs typeface="Arial" pitchFamily="34" charset="-120"/>
              </a:rPr>
              <a:t>.</a:t>
            </a:r>
            <a:endParaRPr lang="en-US" sz="1600" dirty="0"/>
          </a:p>
        </p:txBody>
      </p:sp>
      <p:sp>
        <p:nvSpPr>
          <p:cNvPr id="18" name="Shape 16"/>
          <p:cNvSpPr/>
          <p:nvPr/>
        </p:nvSpPr>
        <p:spPr>
          <a:xfrm>
            <a:off x="7406640" y="3657600"/>
            <a:ext cx="4144975" cy="1188720"/>
          </a:xfrm>
          <a:prstGeom prst="roundRect">
            <a:avLst>
              <a:gd name="adj" fmla="val 7692"/>
            </a:avLst>
          </a:prstGeom>
          <a:solidFill>
            <a:srgbClr val="141922"/>
          </a:solidFill>
          <a:ln w="12700">
            <a:solidFill>
              <a:srgbClr val="141922"/>
            </a:solidFill>
            <a:prstDash val="solid"/>
          </a:ln>
        </p:spPr>
      </p:sp>
      <p:sp>
        <p:nvSpPr>
          <p:cNvPr id="19" name="Text 17"/>
          <p:cNvSpPr txBox="1"/>
          <p:nvPr/>
        </p:nvSpPr>
        <p:spPr>
          <a:xfrm>
            <a:off x="7680960" y="3931920"/>
            <a:ext cx="3596335" cy="822960"/>
          </a:xfrm>
          <a:prstGeom prst="rect">
            <a:avLst/>
          </a:prstGeom>
          <a:noFill/>
          <a:ln/>
        </p:spPr>
        <p:txBody>
          <a:bodyPr wrap="square" lIns="0" tIns="0" rIns="0" bIns="0" rtlCol="0" anchor="t"/>
          <a:lstStyle/>
          <a:p>
            <a:pPr indent="0" marL="0">
              <a:lnSpc>
                <a:spcPct val="115000"/>
              </a:lnSpc>
              <a:buNone/>
            </a:pPr>
            <a:r>
              <a:rPr lang="en-US" sz="1600" dirty="0">
                <a:solidFill>
                  <a:srgbClr val="C6CCD6"/>
                </a:solidFill>
                <a:latin typeface="Arial" pitchFamily="34" charset="0"/>
                <a:ea typeface="Arial" pitchFamily="34" charset="-122"/>
                <a:cs typeface="Arial" pitchFamily="34" charset="-120"/>
              </a:rPr>
              <a:t>A typeface Google does not have, or a licensed one, takes the </a:t>
            </a:r>
            <a:pPr indent="0" marL="0">
              <a:lnSpc>
                <a:spcPct val="115000"/>
              </a:lnSpc>
              <a:buNone/>
            </a:pPr>
            <a:r>
              <a:rPr lang="en-US" sz="1600" b="1" dirty="0">
                <a:solidFill>
                  <a:srgbClr val="C6CCD6"/>
                </a:solidFill>
                <a:latin typeface="Arial" pitchFamily="34" charset="0"/>
                <a:ea typeface="Arial" pitchFamily="34" charset="-122"/>
                <a:cs typeface="Arial" pitchFamily="34" charset="-120"/>
              </a:rPr>
              <a:t>upload</a:t>
            </a:r>
            <a:pPr indent="0" marL="0">
              <a:lnSpc>
                <a:spcPct val="115000"/>
              </a:lnSpc>
              <a:buNone/>
            </a:pPr>
            <a:r>
              <a:rPr lang="en-US" sz="1600" dirty="0">
                <a:solidFill>
                  <a:srgbClr val="C6CCD6"/>
                </a:solidFill>
                <a:latin typeface="Arial" pitchFamily="34" charset="0"/>
                <a:ea typeface="Arial" pitchFamily="34" charset="-122"/>
                <a:cs typeface="Arial" pitchFamily="34" charset="-120"/>
              </a:rPr>
              <a:t> road on the last screen before Create.</a:t>
            </a:r>
            <a:endParaRPr lang="en-US" sz="1600" dirty="0"/>
          </a:p>
        </p:txBody>
      </p:sp>
      <p:sp>
        <p:nvSpPr>
          <p:cNvPr id="20" name="Shape 18"/>
          <p:cNvSpPr/>
          <p:nvPr/>
        </p:nvSpPr>
        <p:spPr>
          <a:xfrm>
            <a:off x="7406640" y="4983480"/>
            <a:ext cx="4144975" cy="960120"/>
          </a:xfrm>
          <a:prstGeom prst="roundRect">
            <a:avLst>
              <a:gd name="adj" fmla="val 9524"/>
            </a:avLst>
          </a:prstGeom>
          <a:solidFill>
            <a:srgbClr val="141922"/>
          </a:solidFill>
          <a:ln w="12700">
            <a:solidFill>
              <a:srgbClr val="141922"/>
            </a:solidFill>
            <a:prstDash val="solid"/>
          </a:ln>
        </p:spPr>
      </p:sp>
      <p:sp>
        <p:nvSpPr>
          <p:cNvPr id="21" name="Text 19"/>
          <p:cNvSpPr txBox="1"/>
          <p:nvPr/>
        </p:nvSpPr>
        <p:spPr>
          <a:xfrm>
            <a:off x="7680960" y="5257800"/>
            <a:ext cx="35963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THE GUIDE</a:t>
            </a:r>
            <a:endParaRPr lang="en-US" sz="1100" dirty="0"/>
          </a:p>
        </p:txBody>
      </p:sp>
      <p:sp>
        <p:nvSpPr>
          <p:cNvPr id="22" name="Text 20"/>
          <p:cNvSpPr txBox="1"/>
          <p:nvPr/>
        </p:nvSpPr>
        <p:spPr>
          <a:xfrm>
            <a:off x="7680960" y="5550408"/>
            <a:ext cx="3596335" cy="320040"/>
          </a:xfrm>
          <a:prstGeom prst="rect">
            <a:avLst/>
          </a:prstGeom>
          <a:noFill/>
          <a:ln/>
        </p:spPr>
        <p:txBody>
          <a:bodyPr wrap="square" lIns="0" tIns="0" rIns="0" bIns="0" rtlCol="0" anchor="t"/>
          <a:lstStyle/>
          <a:p>
            <a:pPr indent="0" marL="0">
              <a:buNone/>
            </a:pPr>
            <a:r>
              <a:rPr lang="en-US" sz="1600" dirty="0">
                <a:solidFill>
                  <a:srgbClr val="F6A623"/>
                </a:solidFill>
                <a:latin typeface="Consolas" pitchFamily="34" charset="0"/>
                <a:ea typeface="Consolas" pitchFamily="34" charset="-122"/>
                <a:cs typeface="Consolas" pitchFamily="34" charset="-120"/>
              </a:rPr>
              <a:t>noacg.studio/docs#first-graphic</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5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2  ·  25 MIN  ·  EVERYONE, THEN THOSE WITH AN AGENT</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coding agent</a:t>
            </a:r>
            <a:endParaRPr lang="en-US" sz="4400" dirty="0"/>
          </a:p>
        </p:txBody>
      </p:sp>
      <p:sp>
        <p:nvSpPr>
          <p:cNvPr id="5" name="Text 3"/>
          <p:cNvSpPr txBox="1"/>
          <p:nvPr/>
        </p:nvSpPr>
        <p:spPr>
          <a:xfrm>
            <a:off x="640080" y="1691640"/>
            <a:ext cx="54864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EVERYONE, NO AGENT NEEDED</a:t>
            </a:r>
            <a:endParaRPr lang="en-US" sz="1100" dirty="0"/>
          </a:p>
        </p:txBody>
      </p:sp>
      <p:sp>
        <p:nvSpPr>
          <p:cNvPr id="6" name="Shape 4"/>
          <p:cNvSpPr/>
          <p:nvPr/>
        </p:nvSpPr>
        <p:spPr>
          <a:xfrm>
            <a:off x="640080" y="2011680"/>
            <a:ext cx="10911535" cy="1417320"/>
          </a:xfrm>
          <a:prstGeom prst="roundRect">
            <a:avLst>
              <a:gd name="adj" fmla="val 6452"/>
            </a:avLst>
          </a:prstGeom>
          <a:solidFill>
            <a:srgbClr val="0E1014"/>
          </a:solidFill>
          <a:ln w="9525">
            <a:solidFill>
              <a:srgbClr val="262F3C"/>
            </a:solidFill>
            <a:prstDash val="solid"/>
          </a:ln>
        </p:spPr>
      </p:sp>
      <p:sp>
        <p:nvSpPr>
          <p:cNvPr id="7" name="Text 5"/>
          <p:cNvSpPr txBox="1"/>
          <p:nvPr/>
        </p:nvSpPr>
        <p:spPr>
          <a:xfrm>
            <a:off x="914400" y="2212848"/>
            <a:ext cx="10362895" cy="1051560"/>
          </a:xfrm>
          <a:prstGeom prst="rect">
            <a:avLst/>
          </a:prstGeom>
          <a:noFill/>
          <a:ln/>
        </p:spPr>
        <p:txBody>
          <a:bodyPr wrap="square" lIns="0" tIns="0" rIns="0" bIns="0" rtlCol="0" anchor="t"/>
          <a:lstStyle/>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scaffold --type scoreboard --design neutral --out ./sb</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validate ./sb --screenshots ./shots</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login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once; a browser asks one question</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save ./sb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prints a link that opens at once</a:t>
            </a:r>
            <a:endParaRPr lang="en-US" sz="1400" dirty="0"/>
          </a:p>
        </p:txBody>
      </p:sp>
      <p:sp>
        <p:nvSpPr>
          <p:cNvPr id="8" name="Text 6"/>
          <p:cNvSpPr txBox="1"/>
          <p:nvPr/>
        </p:nvSpPr>
        <p:spPr>
          <a:xfrm>
            <a:off x="640080" y="3657600"/>
            <a:ext cx="4937760" cy="868680"/>
          </a:xfrm>
          <a:prstGeom prst="rect">
            <a:avLst/>
          </a:prstGeom>
          <a:noFill/>
          <a:ln/>
        </p:spPr>
        <p:txBody>
          <a:bodyPr wrap="square" lIns="0" tIns="0" rIns="0" bIns="0" rtlCol="0" anchor="t"/>
          <a:lstStyle/>
          <a:p>
            <a:pPr indent="0" marL="0">
              <a:buNone/>
            </a:pPr>
            <a:r>
              <a:rPr lang="en-US" sz="6000" b="1" spc="-200" kern="0" dirty="0">
                <a:solidFill>
                  <a:srgbClr val="F6A623"/>
                </a:solidFill>
                <a:latin typeface="Arial" pitchFamily="34" charset="0"/>
                <a:ea typeface="Arial" pitchFamily="34" charset="-122"/>
                <a:cs typeface="Arial" pitchFamily="34" charset="-120"/>
              </a:rPr>
              <a:t>24.8 s</a:t>
            </a:r>
            <a:endParaRPr lang="en-US" sz="6000" dirty="0"/>
          </a:p>
        </p:txBody>
      </p:sp>
      <p:sp>
        <p:nvSpPr>
          <p:cNvPr id="9" name="Text 7"/>
          <p:cNvSpPr txBox="1"/>
          <p:nvPr/>
        </p:nvSpPr>
        <p:spPr>
          <a:xfrm>
            <a:off x="640080" y="4572000"/>
            <a:ext cx="4937760" cy="1554480"/>
          </a:xfrm>
          <a:prstGeom prst="rect">
            <a:avLst/>
          </a:prstGeom>
          <a:noFill/>
          <a:ln/>
        </p:spPr>
        <p:txBody>
          <a:bodyPr wrap="square" lIns="0" tIns="0" rIns="0" bIns="0" rtlCol="0" anchor="t"/>
          <a:lstStyle/>
          <a:p>
            <a:pPr indent="0" marL="0">
              <a:lnSpc>
                <a:spcPct val="120000"/>
              </a:lnSpc>
              <a:buNone/>
            </a:pPr>
            <a:r>
              <a:rPr lang="en-US" sz="1450" b="1" dirty="0">
                <a:solidFill>
                  <a:srgbClr val="E8EDF2"/>
                </a:solidFill>
                <a:latin typeface="Arial" pitchFamily="34" charset="0"/>
                <a:ea typeface="Arial" pitchFamily="34" charset="-122"/>
                <a:cs typeface="Arial" pitchFamily="34" charset="-120"/>
              </a:rPr>
              <a:t>Tool time for the seven CLI verbs</a:t>
            </a:r>
            <a:pPr indent="0" marL="0">
              <a:lnSpc>
                <a:spcPct val="120000"/>
              </a:lnSpc>
              <a:buNone/>
            </a:pPr>
            <a:r>
              <a:rPr lang="en-US" sz="1450" dirty="0">
                <a:solidFill>
                  <a:srgbClr val="C6CCD6"/>
                </a:solidFill>
                <a:latin typeface="Arial" pitchFamily="34" charset="0"/>
                <a:ea typeface="Arial" pitchFamily="34" charset="-122"/>
                <a:cs typeface="Arial" pitchFamily="34" charset="-120"/>
              </a:rPr>
              <a:t>, measured by hand on 2026-09-09. validate is 10.7 s of it, the only verb that opens a browser. The rest of the clock is what the agent spends designing, plus the hop to a player. Nobody has put a stopwatch on that last leg end to end yet, so this is the number there is.</a:t>
            </a:r>
            <a:endParaRPr lang="en-US" sz="1450" dirty="0"/>
          </a:p>
        </p:txBody>
      </p:sp>
      <p:sp>
        <p:nvSpPr>
          <p:cNvPr id="10" name="Text 8"/>
          <p:cNvSpPr txBox="1"/>
          <p:nvPr/>
        </p:nvSpPr>
        <p:spPr>
          <a:xfrm>
            <a:off x="6126480" y="3657600"/>
            <a:ext cx="54251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WITH CLAUDE CODE OR CODEX</a:t>
            </a:r>
            <a:endParaRPr lang="en-US" sz="1100" dirty="0"/>
          </a:p>
        </p:txBody>
      </p:sp>
      <p:sp>
        <p:nvSpPr>
          <p:cNvPr id="11" name="Text 9"/>
          <p:cNvSpPr txBox="1"/>
          <p:nvPr/>
        </p:nvSpPr>
        <p:spPr>
          <a:xfrm>
            <a:off x="6126480" y="4069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12" name="Text 10"/>
          <p:cNvSpPr txBox="1"/>
          <p:nvPr/>
        </p:nvSpPr>
        <p:spPr>
          <a:xfrm>
            <a:off x="6629400" y="402336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Paste the one prompt. It installs, checks itself, and asks what to make.</a:t>
            </a:r>
            <a:endParaRPr lang="en-US" sz="1600" dirty="0"/>
          </a:p>
          <a:p>
            <a:pPr indent="0" marL="0">
              <a:buNone/>
            </a:pPr>
            <a:r>
              <a:rPr lang="en-US" sz="1300" dirty="0">
                <a:solidFill>
                  <a:srgbClr val="8B98A8"/>
                </a:solidFill>
                <a:latin typeface="Consolas" pitchFamily="34" charset="0"/>
                <a:ea typeface="Consolas" pitchFamily="34" charset="-122"/>
                <a:cs typeface="Consolas" pitchFamily="34" charset="-120"/>
              </a:rPr>
              <a:t>/docs#agent-install</a:t>
            </a:r>
            <a:endParaRPr lang="en-US" sz="1600" dirty="0"/>
          </a:p>
        </p:txBody>
      </p:sp>
      <p:sp>
        <p:nvSpPr>
          <p:cNvPr id="13" name="Text 11"/>
          <p:cNvSpPr txBox="1"/>
          <p:nvPr/>
        </p:nvSpPr>
        <p:spPr>
          <a:xfrm>
            <a:off x="6126480" y="489204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14" name="Text 12"/>
          <p:cNvSpPr txBox="1"/>
          <p:nvPr/>
        </p:nvSpPr>
        <p:spPr>
          <a:xfrm>
            <a:off x="6629400" y="484632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Say what you want. "A clean scoreboard for a floorball stream: home, away, period, clock."</a:t>
            </a:r>
            <a:endParaRPr lang="en-US" sz="1600" dirty="0"/>
          </a:p>
        </p:txBody>
      </p:sp>
      <p:sp>
        <p:nvSpPr>
          <p:cNvPr id="15" name="Text 13"/>
          <p:cNvSpPr txBox="1"/>
          <p:nvPr/>
        </p:nvSpPr>
        <p:spPr>
          <a:xfrm>
            <a:off x="6126480" y="548640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6" name="Text 14"/>
          <p:cNvSpPr txBox="1"/>
          <p:nvPr/>
        </p:nvSpPr>
        <p:spPr>
          <a:xfrm>
            <a:off x="6629400" y="544068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It authors, validates with screenshots, fixes what the validator reports, and saves.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6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ON AIR  ·  20 MIN  ·  YOU DRIVE, THEN THE ROOM'S BOXES</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One production, one URL</a:t>
            </a:r>
            <a:endParaRPr lang="en-US" sz="4400" dirty="0"/>
          </a:p>
        </p:txBody>
      </p:sp>
      <p:sp>
        <p:nvSpPr>
          <p:cNvPr id="5" name="Shape 3"/>
          <p:cNvSpPr/>
          <p:nvPr/>
        </p:nvSpPr>
        <p:spPr>
          <a:xfrm>
            <a:off x="640080" y="1737360"/>
            <a:ext cx="3515258" cy="1463040"/>
          </a:xfrm>
          <a:prstGeom prst="roundRect">
            <a:avLst>
              <a:gd name="adj" fmla="val 6250"/>
            </a:avLst>
          </a:prstGeom>
          <a:solidFill>
            <a:srgbClr val="141922"/>
          </a:solidFill>
          <a:ln w="12700">
            <a:solidFill>
              <a:srgbClr val="141922"/>
            </a:solidFill>
            <a:prstDash val="solid"/>
          </a:ln>
        </p:spPr>
      </p:sp>
      <p:sp>
        <p:nvSpPr>
          <p:cNvPr id="6" name="Text 4"/>
          <p:cNvSpPr txBox="1"/>
          <p:nvPr/>
        </p:nvSpPr>
        <p:spPr>
          <a:xfrm>
            <a:off x="896112"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896112"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Library row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&gt;  a cue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Start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a:t>
            </a:r>
            <a:endParaRPr lang="en-US" sz="1500" dirty="0"/>
          </a:p>
        </p:txBody>
      </p:sp>
      <p:sp>
        <p:nvSpPr>
          <p:cNvPr id="8" name="Shape 6"/>
          <p:cNvSpPr/>
          <p:nvPr/>
        </p:nvSpPr>
        <p:spPr>
          <a:xfrm>
            <a:off x="4338218" y="1737360"/>
            <a:ext cx="3515258" cy="1463040"/>
          </a:xfrm>
          <a:prstGeom prst="roundRect">
            <a:avLst>
              <a:gd name="adj" fmla="val 6250"/>
            </a:avLst>
          </a:prstGeom>
          <a:solidFill>
            <a:srgbClr val="141922"/>
          </a:solidFill>
          <a:ln w="12700">
            <a:solidFill>
              <a:srgbClr val="141922"/>
            </a:solidFill>
            <a:prstDash val="solid"/>
          </a:ln>
        </p:spPr>
      </p:sp>
      <p:sp>
        <p:nvSpPr>
          <p:cNvPr id="9" name="Text 7"/>
          <p:cNvSpPr txBox="1"/>
          <p:nvPr/>
        </p:nvSpPr>
        <p:spPr>
          <a:xfrm>
            <a:off x="4594250"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0" name="Text 8"/>
          <p:cNvSpPr txBox="1"/>
          <p:nvPr/>
        </p:nvSpPr>
        <p:spPr>
          <a:xfrm>
            <a:off x="4594250"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Two links appear behind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Links</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the output URL and the control URL.</a:t>
            </a:r>
            <a:endParaRPr lang="en-US" sz="1500" dirty="0"/>
          </a:p>
        </p:txBody>
      </p:sp>
      <p:sp>
        <p:nvSpPr>
          <p:cNvPr id="11" name="Shape 9"/>
          <p:cNvSpPr/>
          <p:nvPr/>
        </p:nvSpPr>
        <p:spPr>
          <a:xfrm>
            <a:off x="8036357" y="1737360"/>
            <a:ext cx="3515258" cy="1463040"/>
          </a:xfrm>
          <a:prstGeom prst="roundRect">
            <a:avLst>
              <a:gd name="adj" fmla="val 6250"/>
            </a:avLst>
          </a:prstGeom>
          <a:solidFill>
            <a:srgbClr val="141922"/>
          </a:solidFill>
          <a:ln w="12700">
            <a:solidFill>
              <a:srgbClr val="141922"/>
            </a:solidFill>
            <a:prstDash val="solid"/>
          </a:ln>
        </p:spPr>
      </p:sp>
      <p:sp>
        <p:nvSpPr>
          <p:cNvPr id="12" name="Text 10"/>
          <p:cNvSpPr txBox="1"/>
          <p:nvPr/>
        </p:nvSpPr>
        <p:spPr>
          <a:xfrm>
            <a:off x="8292389"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3" name="Text 11"/>
          <p:cNvSpPr txBox="1"/>
          <p:nvPr/>
        </p:nvSpPr>
        <p:spPr>
          <a:xfrm>
            <a:off x="8292389" y="2286000"/>
            <a:ext cx="3003194" cy="886968"/>
          </a:xfrm>
          <a:prstGeom prst="rect">
            <a:avLst/>
          </a:prstGeom>
          <a:noFill/>
          <a:ln/>
        </p:spPr>
        <p:txBody>
          <a:bodyPr wrap="square" lIns="0" tIns="0" rIns="0" bIns="0" rtlCol="0" anchor="t"/>
          <a:lstStyle/>
          <a:p>
            <a:pPr indent="0" marL="0">
              <a:lnSpc>
                <a:spcPct val="115000"/>
              </a:lnSpc>
              <a:buNone/>
            </a:pPr>
            <a:r>
              <a:rPr lang="en-US" sz="1500" b="1" dirty="0">
                <a:solidFill>
                  <a:srgbClr val="E8EDF2"/>
                </a:solidFill>
                <a:latin typeface="Arial" pitchFamily="34" charset="0"/>
                <a:ea typeface="Arial" pitchFamily="34" charset="-122"/>
                <a:cs typeface="Arial" pitchFamily="34" charset="-120"/>
              </a:rPr>
              <a:t>Take. Update. Out.</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Hand the control link to a phone and it is a second operator.</a:t>
            </a:r>
            <a:endParaRPr lang="en-US" sz="1500" dirty="0"/>
          </a:p>
        </p:txBody>
      </p:sp>
      <p:sp>
        <p:nvSpPr>
          <p:cNvPr id="14" name="Shape 12"/>
          <p:cNvSpPr/>
          <p:nvPr/>
        </p:nvSpPr>
        <p:spPr>
          <a:xfrm>
            <a:off x="640080" y="3383280"/>
            <a:ext cx="2590724" cy="2606040"/>
          </a:xfrm>
          <a:prstGeom prst="roundRect">
            <a:avLst>
              <a:gd name="adj" fmla="val 3530"/>
            </a:avLst>
          </a:prstGeom>
          <a:solidFill>
            <a:srgbClr val="141922"/>
          </a:solidFill>
          <a:ln w="12700">
            <a:solidFill>
              <a:srgbClr val="141922"/>
            </a:solidFill>
            <a:prstDash val="solid"/>
          </a:ln>
        </p:spPr>
      </p:sp>
      <p:sp>
        <p:nvSpPr>
          <p:cNvPr id="15" name="Text 13"/>
          <p:cNvSpPr txBox="1"/>
          <p:nvPr/>
        </p:nvSpPr>
        <p:spPr>
          <a:xfrm>
            <a:off x="896112"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EVERYONE</a:t>
            </a:r>
            <a:endParaRPr lang="en-US" sz="1050" dirty="0"/>
          </a:p>
        </p:txBody>
      </p:sp>
      <p:sp>
        <p:nvSpPr>
          <p:cNvPr id="16" name="Text 14"/>
          <p:cNvSpPr txBox="1"/>
          <p:nvPr/>
        </p:nvSpPr>
        <p:spPr>
          <a:xfrm>
            <a:off x="896112"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OBS, on your laptop</a:t>
            </a:r>
            <a:endParaRPr lang="en-US" sz="1800" dirty="0"/>
          </a:p>
        </p:txBody>
      </p:sp>
      <p:sp>
        <p:nvSpPr>
          <p:cNvPr id="17" name="Text 15"/>
          <p:cNvSpPr txBox="1"/>
          <p:nvPr/>
        </p:nvSpPr>
        <p:spPr>
          <a:xfrm>
            <a:off x="896112"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Browser source, the output URL, 1920x1080, your channel's fps.</a:t>
            </a:r>
            <a:endParaRPr lang="en-US" sz="1400" dirty="0"/>
          </a:p>
        </p:txBody>
      </p:sp>
      <p:sp>
        <p:nvSpPr>
          <p:cNvPr id="18" name="Text 16"/>
          <p:cNvSpPr txBox="1"/>
          <p:nvPr/>
        </p:nvSpPr>
        <p:spPr>
          <a:xfrm>
            <a:off x="896112"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/docs#obs</a:t>
            </a:r>
            <a:endParaRPr lang="en-US" sz="1200" dirty="0"/>
          </a:p>
        </p:txBody>
      </p:sp>
      <p:sp>
        <p:nvSpPr>
          <p:cNvPr id="19" name="Shape 17"/>
          <p:cNvSpPr/>
          <p:nvPr/>
        </p:nvSpPr>
        <p:spPr>
          <a:xfrm>
            <a:off x="3413684" y="3383280"/>
            <a:ext cx="2590724" cy="2606040"/>
          </a:xfrm>
          <a:prstGeom prst="roundRect">
            <a:avLst>
              <a:gd name="adj" fmla="val 3530"/>
            </a:avLst>
          </a:prstGeom>
          <a:solidFill>
            <a:srgbClr val="141922"/>
          </a:solidFill>
          <a:ln w="12700">
            <a:solidFill>
              <a:srgbClr val="141922"/>
            </a:solidFill>
            <a:prstDash val="solid"/>
          </a:ln>
        </p:spPr>
      </p:sp>
      <p:sp>
        <p:nvSpPr>
          <p:cNvPr id="20" name="Text 18"/>
          <p:cNvSpPr txBox="1"/>
          <p:nvPr/>
        </p:nvSpPr>
        <p:spPr>
          <a:xfrm>
            <a:off x="3669716"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THE ROOM'S BOX</a:t>
            </a:r>
            <a:endParaRPr lang="en-US" sz="1050" dirty="0"/>
          </a:p>
        </p:txBody>
      </p:sp>
      <p:sp>
        <p:nvSpPr>
          <p:cNvPr id="21" name="Text 19"/>
          <p:cNvSpPr txBox="1"/>
          <p:nvPr/>
        </p:nvSpPr>
        <p:spPr>
          <a:xfrm>
            <a:off x="3669716"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CasparCG 2.3, the URL</a:t>
            </a:r>
            <a:endParaRPr lang="en-US" sz="1800" dirty="0"/>
          </a:p>
        </p:txBody>
      </p:sp>
      <p:sp>
        <p:nvSpPr>
          <p:cNvPr id="22" name="Text 20"/>
          <p:cNvSpPr txBox="1"/>
          <p:nvPr/>
        </p:nvSpPr>
        <p:spPr>
          <a:xfrm>
            <a:off x="3669716"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CG 1-20 ADD 1 "&lt;URL&gt;" 1, loaded once, then cued from the dashboard.</a:t>
            </a:r>
            <a:endParaRPr lang="en-US" sz="1400" dirty="0"/>
          </a:p>
        </p:txBody>
      </p:sp>
      <p:sp>
        <p:nvSpPr>
          <p:cNvPr id="23" name="Text 21"/>
          <p:cNvSpPr txBox="1"/>
          <p:nvPr/>
        </p:nvSpPr>
        <p:spPr>
          <a:xfrm>
            <a:off x="3669716"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/docs#casparcg-url</a:t>
            </a:r>
            <a:endParaRPr lang="en-US" sz="1200" dirty="0"/>
          </a:p>
        </p:txBody>
      </p:sp>
      <p:sp>
        <p:nvSpPr>
          <p:cNvPr id="24" name="Shape 22"/>
          <p:cNvSpPr/>
          <p:nvPr/>
        </p:nvSpPr>
        <p:spPr>
          <a:xfrm>
            <a:off x="6187288" y="3383280"/>
            <a:ext cx="2590724" cy="2606040"/>
          </a:xfrm>
          <a:prstGeom prst="roundRect">
            <a:avLst>
              <a:gd name="adj" fmla="val 3530"/>
            </a:avLst>
          </a:prstGeom>
          <a:solidFill>
            <a:srgbClr val="141922"/>
          </a:solidFill>
          <a:ln w="12700">
            <a:solidFill>
              <a:srgbClr val="141922"/>
            </a:solidFill>
            <a:prstDash val="solid"/>
          </a:ln>
        </p:spPr>
      </p:sp>
      <p:sp>
        <p:nvSpPr>
          <p:cNvPr id="25" name="Text 23"/>
          <p:cNvSpPr txBox="1"/>
          <p:nvPr/>
        </p:nvSpPr>
        <p:spPr>
          <a:xfrm>
            <a:off x="6443320"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NO NETWORK</a:t>
            </a:r>
            <a:endParaRPr lang="en-US" sz="1050" dirty="0"/>
          </a:p>
        </p:txBody>
      </p:sp>
      <p:sp>
        <p:nvSpPr>
          <p:cNvPr id="26" name="Text 24"/>
          <p:cNvSpPr txBox="1"/>
          <p:nvPr/>
        </p:nvSpPr>
        <p:spPr>
          <a:xfrm>
            <a:off x="6443320"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CasparCG or SPX, a file</a:t>
            </a:r>
            <a:endParaRPr lang="en-US" sz="1800" dirty="0"/>
          </a:p>
        </p:txBody>
      </p:sp>
      <p:sp>
        <p:nvSpPr>
          <p:cNvPr id="27" name="Text 25"/>
          <p:cNvSpPr txBox="1"/>
          <p:nvPr/>
        </p:nvSpPr>
        <p:spPr>
          <a:xfrm>
            <a:off x="6443320"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Export the package, play the file, drive it from the bundled control panel.</a:t>
            </a:r>
            <a:endParaRPr lang="en-US" sz="1400" dirty="0"/>
          </a:p>
        </p:txBody>
      </p:sp>
      <p:sp>
        <p:nvSpPr>
          <p:cNvPr id="28" name="Text 26"/>
          <p:cNvSpPr txBox="1"/>
          <p:nvPr/>
        </p:nvSpPr>
        <p:spPr>
          <a:xfrm>
            <a:off x="6443320"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/docs#export</a:t>
            </a:r>
            <a:endParaRPr lang="en-US" sz="1200" dirty="0"/>
          </a:p>
        </p:txBody>
      </p:sp>
      <p:sp>
        <p:nvSpPr>
          <p:cNvPr id="29" name="Shape 27"/>
          <p:cNvSpPr/>
          <p:nvPr/>
        </p:nvSpPr>
        <p:spPr>
          <a:xfrm>
            <a:off x="8960891" y="3383280"/>
            <a:ext cx="2590724" cy="2606040"/>
          </a:xfrm>
          <a:prstGeom prst="roundRect">
            <a:avLst>
              <a:gd name="adj" fmla="val 3530"/>
            </a:avLst>
          </a:prstGeom>
          <a:solidFill>
            <a:srgbClr val="141922"/>
          </a:solidFill>
          <a:ln w="12700">
            <a:solidFill>
              <a:srgbClr val="141922"/>
            </a:solidFill>
            <a:prstDash val="solid"/>
          </a:ln>
        </p:spPr>
      </p:sp>
      <p:sp>
        <p:nvSpPr>
          <p:cNvPr id="30" name="Text 28"/>
          <p:cNvSpPr txBox="1"/>
          <p:nvPr/>
        </p:nvSpPr>
        <p:spPr>
          <a:xfrm>
            <a:off x="9216923"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FOR YLE</a:t>
            </a:r>
            <a:endParaRPr lang="en-US" sz="1050" dirty="0"/>
          </a:p>
        </p:txBody>
      </p:sp>
      <p:sp>
        <p:nvSpPr>
          <p:cNvPr id="31" name="Text 29"/>
          <p:cNvSpPr txBox="1"/>
          <p:nvPr/>
        </p:nvSpPr>
        <p:spPr>
          <a:xfrm>
            <a:off x="9216923"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An OGraf renderer</a:t>
            </a:r>
            <a:endParaRPr lang="en-US" sz="1800" dirty="0"/>
          </a:p>
        </p:txBody>
      </p:sp>
      <p:sp>
        <p:nvSpPr>
          <p:cNvPr id="32" name="Text 30"/>
          <p:cNvSpPr txBox="1"/>
          <p:nvPr/>
        </p:nvSpPr>
        <p:spPr>
          <a:xfrm>
            <a:off x="9216923"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Export as an OGraf package, or take a starter from noacg.studio/ograf.</a:t>
            </a:r>
            <a:endParaRPr lang="en-US" sz="1400" dirty="0"/>
          </a:p>
        </p:txBody>
      </p:sp>
      <p:sp>
        <p:nvSpPr>
          <p:cNvPr id="33" name="Text 31"/>
          <p:cNvSpPr txBox="1"/>
          <p:nvPr/>
        </p:nvSpPr>
        <p:spPr>
          <a:xfrm>
            <a:off x="9216923"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noacg.studio/ograf</a:t>
            </a:r>
            <a:endParaRPr lang="en-US" sz="1200" dirty="0"/>
          </a:p>
        </p:txBody>
      </p:sp>
      <p:sp>
        <p:nvSpPr>
          <p:cNvPr id="34" name="Text 32"/>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Publishing a production needs a free account. Nothing before it does.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7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CLOSE  ·  5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The guide is the docs page.</a:t>
            </a:r>
            <a:endParaRPr lang="en-US" sz="4400" dirty="0"/>
          </a:p>
        </p:txBody>
      </p:sp>
      <p:sp>
        <p:nvSpPr>
          <p:cNvPr id="5" name="Text 3"/>
          <p:cNvSpPr txBox="1"/>
          <p:nvPr/>
        </p:nvSpPr>
        <p:spPr>
          <a:xfrm>
            <a:off x="640080" y="1783080"/>
            <a:ext cx="10911535" cy="731520"/>
          </a:xfrm>
          <a:prstGeom prst="rect">
            <a:avLst/>
          </a:prstGeom>
          <a:noFill/>
          <a:ln/>
        </p:spPr>
        <p:txBody>
          <a:bodyPr wrap="square" lIns="0" tIns="0" rIns="0" bIns="0" rtlCol="0" anchor="t"/>
          <a:lstStyle/>
          <a:p>
            <a:pPr indent="0" marL="0">
              <a:buNone/>
            </a:pPr>
            <a:r>
              <a:rPr lang="en-US" sz="4000" dirty="0">
                <a:solidFill>
                  <a:srgbClr val="F6A623"/>
                </a:solidFill>
                <a:latin typeface="Consolas" pitchFamily="34" charset="0"/>
                <a:ea typeface="Consolas" pitchFamily="34" charset="-122"/>
                <a:cs typeface="Consolas" pitchFamily="34" charset="-120"/>
              </a:rPr>
              <a:t>noacg.studio/docs</a:t>
            </a:r>
            <a:endParaRPr lang="en-US" sz="4000" dirty="0"/>
          </a:p>
        </p:txBody>
      </p:sp>
      <p:sp>
        <p:nvSpPr>
          <p:cNvPr id="6" name="Text 4"/>
          <p:cNvSpPr txBox="1"/>
          <p:nvPr/>
        </p:nvSpPr>
        <p:spPr>
          <a:xfrm>
            <a:off x="640080"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a:t>
            </a:r>
            <a:endParaRPr lang="en-US" sz="1100" dirty="0"/>
          </a:p>
        </p:txBody>
      </p:sp>
      <p:sp>
        <p:nvSpPr>
          <p:cNvPr id="7" name="Text 5"/>
          <p:cNvSpPr txBox="1"/>
          <p:nvPr/>
        </p:nvSpPr>
        <p:spPr>
          <a:xfrm>
            <a:off x="640080"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#first-graphic</a:t>
            </a:r>
            <a:endParaRPr lang="en-US" sz="1800" dirty="0"/>
          </a:p>
        </p:txBody>
      </p:sp>
      <p:sp>
        <p:nvSpPr>
          <p:cNvPr id="8" name="Text 6"/>
          <p:cNvSpPr txBox="1"/>
          <p:nvPr/>
        </p:nvSpPr>
        <p:spPr>
          <a:xfrm>
            <a:off x="640080"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whole road, step by step</a:t>
            </a:r>
            <a:endParaRPr lang="en-US" sz="1400" dirty="0"/>
          </a:p>
        </p:txBody>
      </p:sp>
      <p:sp>
        <p:nvSpPr>
          <p:cNvPr id="9" name="Text 7"/>
          <p:cNvSpPr txBox="1"/>
          <p:nvPr/>
        </p:nvSpPr>
        <p:spPr>
          <a:xfrm>
            <a:off x="640080"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#svg</a:t>
            </a:r>
            <a:endParaRPr lang="en-US" sz="1800" dirty="0"/>
          </a:p>
        </p:txBody>
      </p:sp>
      <p:sp>
        <p:nvSpPr>
          <p:cNvPr id="10" name="Text 8"/>
          <p:cNvSpPr txBox="1"/>
          <p:nvPr/>
        </p:nvSpPr>
        <p:spPr>
          <a:xfrm>
            <a:off x="640080"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rules, layers, fonts, export</a:t>
            </a:r>
            <a:endParaRPr lang="en-US" sz="1400" dirty="0"/>
          </a:p>
        </p:txBody>
      </p:sp>
      <p:sp>
        <p:nvSpPr>
          <p:cNvPr id="11" name="Text 9"/>
          <p:cNvSpPr txBox="1"/>
          <p:nvPr/>
        </p:nvSpPr>
        <p:spPr>
          <a:xfrm>
            <a:off x="4368698"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2</a:t>
            </a:r>
            <a:endParaRPr lang="en-US" sz="1100" dirty="0"/>
          </a:p>
        </p:txBody>
      </p:sp>
      <p:sp>
        <p:nvSpPr>
          <p:cNvPr id="12" name="Text 10"/>
          <p:cNvSpPr txBox="1"/>
          <p:nvPr/>
        </p:nvSpPr>
        <p:spPr>
          <a:xfrm>
            <a:off x="4368698"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#claude-code</a:t>
            </a:r>
            <a:endParaRPr lang="en-US" sz="1800" dirty="0"/>
          </a:p>
        </p:txBody>
      </p:sp>
      <p:sp>
        <p:nvSpPr>
          <p:cNvPr id="13" name="Text 11"/>
          <p:cNvSpPr txBox="1"/>
          <p:nvPr/>
        </p:nvSpPr>
        <p:spPr>
          <a:xfrm>
            <a:off x="4368698"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CLI and both agents</a:t>
            </a:r>
            <a:endParaRPr lang="en-US" sz="1400" dirty="0"/>
          </a:p>
        </p:txBody>
      </p:sp>
      <p:sp>
        <p:nvSpPr>
          <p:cNvPr id="14" name="Text 12"/>
          <p:cNvSpPr txBox="1"/>
          <p:nvPr/>
        </p:nvSpPr>
        <p:spPr>
          <a:xfrm>
            <a:off x="4368698"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#agent-install</a:t>
            </a:r>
            <a:endParaRPr lang="en-US" sz="1800" dirty="0"/>
          </a:p>
        </p:txBody>
      </p:sp>
      <p:sp>
        <p:nvSpPr>
          <p:cNvPr id="15" name="Text 13"/>
          <p:cNvSpPr txBox="1"/>
          <p:nvPr/>
        </p:nvSpPr>
        <p:spPr>
          <a:xfrm>
            <a:off x="4368698"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one prompt</a:t>
            </a:r>
            <a:endParaRPr lang="en-US" sz="1400" dirty="0"/>
          </a:p>
        </p:txBody>
      </p:sp>
      <p:sp>
        <p:nvSpPr>
          <p:cNvPr id="16" name="Text 14"/>
          <p:cNvSpPr txBox="1"/>
          <p:nvPr/>
        </p:nvSpPr>
        <p:spPr>
          <a:xfrm>
            <a:off x="8097317"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ON AIR</a:t>
            </a:r>
            <a:endParaRPr lang="en-US" sz="1100" dirty="0"/>
          </a:p>
        </p:txBody>
      </p:sp>
      <p:sp>
        <p:nvSpPr>
          <p:cNvPr id="17" name="Text 15"/>
          <p:cNvSpPr txBox="1"/>
          <p:nvPr/>
        </p:nvSpPr>
        <p:spPr>
          <a:xfrm>
            <a:off x="8097317"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#dashboard</a:t>
            </a:r>
            <a:endParaRPr lang="en-US" sz="1800" dirty="0"/>
          </a:p>
        </p:txBody>
      </p:sp>
      <p:sp>
        <p:nvSpPr>
          <p:cNvPr id="18" name="Text 16"/>
          <p:cNvSpPr txBox="1"/>
          <p:nvPr/>
        </p:nvSpPr>
        <p:spPr>
          <a:xfrm>
            <a:off x="8097317"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production, cues, links</a:t>
            </a:r>
            <a:endParaRPr lang="en-US" sz="1400" dirty="0"/>
          </a:p>
        </p:txBody>
      </p:sp>
      <p:sp>
        <p:nvSpPr>
          <p:cNvPr id="19" name="Text 17"/>
          <p:cNvSpPr txBox="1"/>
          <p:nvPr/>
        </p:nvSpPr>
        <p:spPr>
          <a:xfrm>
            <a:off x="8097317"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#obs</a:t>
            </a:r>
            <a:endParaRPr lang="en-US" sz="1800" dirty="0"/>
          </a:p>
        </p:txBody>
      </p:sp>
      <p:sp>
        <p:nvSpPr>
          <p:cNvPr id="20" name="Text 18"/>
          <p:cNvSpPr txBox="1"/>
          <p:nvPr/>
        </p:nvSpPr>
        <p:spPr>
          <a:xfrm>
            <a:off x="8097317"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browser source</a:t>
            </a:r>
            <a:endParaRPr lang="en-US" sz="1400" dirty="0"/>
          </a:p>
        </p:txBody>
      </p:sp>
      <p:sp>
        <p:nvSpPr>
          <p:cNvPr id="21" name="Text 19"/>
          <p:cNvSpPr txBox="1"/>
          <p:nvPr/>
        </p:nvSpPr>
        <p:spPr>
          <a:xfrm>
            <a:off x="8097317" y="461772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#casparcg</a:t>
            </a:r>
            <a:endParaRPr lang="en-US" sz="1800" dirty="0"/>
          </a:p>
        </p:txBody>
      </p:sp>
      <p:sp>
        <p:nvSpPr>
          <p:cNvPr id="22" name="Text 20"/>
          <p:cNvSpPr txBox="1"/>
          <p:nvPr/>
        </p:nvSpPr>
        <p:spPr>
          <a:xfrm>
            <a:off x="8097317" y="492861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URL, file, versions</a:t>
            </a:r>
            <a:endParaRPr lang="en-US" sz="1400" dirty="0"/>
          </a:p>
        </p:txBody>
      </p:sp>
      <p:sp>
        <p:nvSpPr>
          <p:cNvPr id="23" name="Text 21"/>
          <p:cNvSpPr txBox="1"/>
          <p:nvPr/>
        </p:nvSpPr>
        <p:spPr>
          <a:xfrm>
            <a:off x="8097317" y="525780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#export</a:t>
            </a:r>
            <a:endParaRPr lang="en-US" sz="1800" dirty="0"/>
          </a:p>
        </p:txBody>
      </p:sp>
      <p:sp>
        <p:nvSpPr>
          <p:cNvPr id="24" name="Text 22"/>
          <p:cNvSpPr txBox="1"/>
          <p:nvPr/>
        </p:nvSpPr>
        <p:spPr>
          <a:xfrm>
            <a:off x="8097317" y="556869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every package</a:t>
            </a:r>
            <a:endParaRPr lang="en-US" sz="1400" dirty="0"/>
          </a:p>
        </p:txBody>
      </p:sp>
      <p:sp>
        <p:nvSpPr>
          <p:cNvPr id="25" name="Text 23"/>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Free, open source, no account until you publish. Take it home.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NoaCG Studio, 25 September 2026</dc:title>
  <dc:subject>PptxGenJS Presentation</dc:subject>
  <dc:creator>NoaCG Studio</dc:creator>
  <cp:lastModifiedBy>NoaCG Studio</cp:lastModifiedBy>
  <cp:revision>1</cp:revision>
  <dcterms:created xsi:type="dcterms:W3CDTF">2026-09-09T15:34:50Z</dcterms:created>
  <dcterms:modified xsi:type="dcterms:W3CDTF">2026-09-09T15:34:50Z</dcterms:modified>
</cp:coreProperties>
</file>